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we're Infinite Loop, and we've built an AI-powered platform that predicts container port congestion and automatically optimizes berth, crane, and shift operations in real time. Let's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Ports today are optimized like it's 1995. Spreadsheets and first-come-first-served scheduling can't handle modern vessel volumes. This causes berth conflicts, idle cranes, and congestion that isn't spotted until it's already a crisis — costing the industry over $10 billion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full-stack platform that thinks like an operations analyst. It simulates real port dynamics, optimizes berth and crane allocation mathematically, predicts congestion hotspots before they happen, and turns all of that into an actionable 72-hour shift plan — automatically. You can try it live at the link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it's a clean three-tier system. The React frontend talks to a FastAPI backend over REST and WebSockets, which feeds our analytics engine — the real brain of the system, combining constraint solving, simulation, and prediction. Data flows from scenario input all the way to a finished shift plan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headline feature: our CP-SAT solver computes an entire berth and crane optimization in under two seconds. Operators can pick from five real-world scenario presets, watch vessels move live on our satellite-style map, and instantly compare what-if outcomes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four core technologies power this system: Google OR-Tools' CP-SAT solver handles complex constraint optimization, SimPy simulates real port operations second by second, Monte Carlo methods forecast congestion risk, and FastAPI with WebSockets streams it all live to the dashboard with minimal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measurable. Compared to standard first-come-first-served scheduling, we cut vessel wait times by 20 to 40 percent. The whole simulation-to-schedule pipeline runs in under two seconds, and it produces ready-to-use 72-hour shift work orders — including contingency notes — that port operators can act 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Infinite Loop — Vedant led architecture and optimization, Harsh built the simulation and prediction engine, Harshit crafted the live map and dashboard experience, and Manav delivered real-time streaming and automated reporting. You can try the live demo yourself at the link on screen. Thank you —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hyperlink" Target="https://port-congestion-optimiser-theta.vercel.app/" TargetMode="External"/><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17204A"/>
          </a:solidFill>
          <a:ln/>
        </p:spPr>
      </p:sp>
      <p:sp>
        <p:nvSpPr>
          <p:cNvPr id="3" name="Shape 1"/>
          <p:cNvSpPr/>
          <p:nvPr/>
        </p:nvSpPr>
        <p:spPr>
          <a:xfrm>
            <a:off x="0" y="5029200"/>
            <a:ext cx="12191695" cy="54864"/>
          </a:xfrm>
          <a:prstGeom prst="rect">
            <a:avLst/>
          </a:prstGeom>
          <a:solidFill>
            <a:srgbClr val="1C7293"/>
          </a:solidFill>
          <a:ln/>
        </p:spPr>
      </p:sp>
      <p:sp>
        <p:nvSpPr>
          <p:cNvPr id="4" name="Shape 2"/>
          <p:cNvSpPr/>
          <p:nvPr/>
        </p:nvSpPr>
        <p:spPr>
          <a:xfrm>
            <a:off x="6757416" y="1362456"/>
            <a:ext cx="5001768" cy="2540624"/>
          </a:xfrm>
          <a:prstGeom prst="roundRect">
            <a:avLst>
              <a:gd name="adj" fmla="val 4319"/>
            </a:avLst>
          </a:prstGeom>
          <a:solidFill>
            <a:srgbClr val="17204A"/>
          </a:solidFill>
          <a:ln w="12700">
            <a:solidFill>
              <a:srgbClr val="3A4680"/>
            </a:solidFill>
            <a:prstDash val="solid"/>
          </a:ln>
          <a:effectLst>
            <a:outerShdw sx="100000" sy="100000" kx="0" ky="0" algn="bl" rotWithShape="0" blurRad="228600" dist="76200" dir="5400000">
              <a:srgbClr val="000000">
                <a:alpha val="35000"/>
              </a:srgbClr>
            </a:outerShdw>
          </a:effectLst>
        </p:spPr>
      </p:sp>
      <p:pic>
        <p:nvPicPr>
          <p:cNvPr id="5" name="Image 0" descr="/home/claude/pptx_project/icons/berth.png">    </p:cNvPr>
          <p:cNvPicPr>
            <a:picLocks noChangeAspect="1"/>
          </p:cNvPicPr>
          <p:nvPr/>
        </p:nvPicPr>
        <p:blipFill>
          <a:blip r:embed="rId1"/>
          <a:stretch>
            <a:fillRect/>
          </a:stretch>
        </p:blipFill>
        <p:spPr>
          <a:xfrm>
            <a:off x="6812280" y="1417320"/>
            <a:ext cx="4892040" cy="2430896"/>
          </a:xfrm>
          <a:prstGeom prst="rect">
            <a:avLst/>
          </a:prstGeom>
        </p:spPr>
      </p:pic>
      <p:sp>
        <p:nvSpPr>
          <p:cNvPr id="6" name="Text 3"/>
          <p:cNvSpPr/>
          <p:nvPr/>
        </p:nvSpPr>
        <p:spPr>
          <a:xfrm>
            <a:off x="6812280" y="3957944"/>
            <a:ext cx="4892040" cy="274320"/>
          </a:xfrm>
          <a:prstGeom prst="rect">
            <a:avLst/>
          </a:prstGeom>
          <a:noFill/>
          <a:ln/>
        </p:spPr>
        <p:txBody>
          <a:bodyPr wrap="square" lIns="0" tIns="0" rIns="0" bIns="0" rtlCol="0" anchor="ctr"/>
          <a:lstStyle/>
          <a:p>
            <a:pPr algn="ctr" indent="0" marL="0">
              <a:buNone/>
            </a:pPr>
            <a:r>
              <a:rPr lang="en-US" sz="1050" i="1" dirty="0">
                <a:solidFill>
                  <a:srgbClr val="A9B6D8"/>
                </a:solidFill>
                <a:latin typeface="Calibri" pitchFamily="34" charset="0"/>
                <a:ea typeface="Calibri" pitchFamily="34" charset="-122"/>
                <a:cs typeface="Calibri" pitchFamily="34" charset="-120"/>
              </a:rPr>
              <a:t>Live Port Dashboard — Berth Status Overview</a:t>
            </a:r>
            <a:endParaRPr lang="en-US" sz="1050" dirty="0"/>
          </a:p>
        </p:txBody>
      </p:sp>
      <p:sp>
        <p:nvSpPr>
          <p:cNvPr id="7" name="Text 4"/>
          <p:cNvSpPr/>
          <p:nvPr/>
        </p:nvSpPr>
        <p:spPr>
          <a:xfrm>
            <a:off x="777240" y="960120"/>
            <a:ext cx="5394960" cy="36576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AI TRACK  ·  HACKATHON SUBMISSION</a:t>
            </a:r>
            <a:endParaRPr lang="en-US" sz="1300" dirty="0"/>
          </a:p>
        </p:txBody>
      </p:sp>
      <p:sp>
        <p:nvSpPr>
          <p:cNvPr id="8" name="Text 5"/>
          <p:cNvSpPr/>
          <p:nvPr/>
        </p:nvSpPr>
        <p:spPr>
          <a:xfrm>
            <a:off x="777240" y="1371600"/>
            <a:ext cx="5760720" cy="2103120"/>
          </a:xfrm>
          <a:prstGeom prst="rect">
            <a:avLst/>
          </a:prstGeom>
          <a:noFill/>
          <a:ln/>
        </p:spPr>
        <p:txBody>
          <a:bodyPr wrap="square" lIns="0" tIns="0" rIns="0" bIns="0" rtlCol="0" anchor="ctr"/>
          <a:lstStyle/>
          <a:p>
            <a:pPr indent="0" marL="0">
              <a:lnSpc>
                <a:spcPct val="115000"/>
              </a:lnSpc>
              <a:buNone/>
            </a:pPr>
            <a:r>
              <a:rPr lang="en-US" sz="2800" b="1" dirty="0">
                <a:solidFill>
                  <a:srgbClr val="FFFFFF"/>
                </a:solidFill>
                <a:latin typeface="Cambria" pitchFamily="34" charset="0"/>
                <a:ea typeface="Cambria" pitchFamily="34" charset="-122"/>
                <a:cs typeface="Cambria" pitchFamily="34" charset="-120"/>
              </a:rPr>
              <a:t>Container Congestion Predictor &amp; Port Operations Optimiser</a:t>
            </a:r>
            <a:endParaRPr lang="en-US" sz="2800" dirty="0"/>
          </a:p>
        </p:txBody>
      </p:sp>
      <p:sp>
        <p:nvSpPr>
          <p:cNvPr id="9" name="Text 6"/>
          <p:cNvSpPr/>
          <p:nvPr/>
        </p:nvSpPr>
        <p:spPr>
          <a:xfrm>
            <a:off x="822960" y="3611880"/>
            <a:ext cx="5577840" cy="77724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AI-Powered Port Analytics, Optimization &amp; Shift Planning Platform</a:t>
            </a:r>
            <a:endParaRPr lang="en-US" sz="1600" dirty="0"/>
          </a:p>
        </p:txBody>
      </p:sp>
      <p:sp>
        <p:nvSpPr>
          <p:cNvPr id="10" name="Shape 7"/>
          <p:cNvSpPr/>
          <p:nvPr/>
        </p:nvSpPr>
        <p:spPr>
          <a:xfrm>
            <a:off x="822960" y="5440680"/>
            <a:ext cx="2514600" cy="1051560"/>
          </a:xfrm>
          <a:prstGeom prst="roundRect">
            <a:avLst>
              <a:gd name="adj" fmla="val 6957"/>
            </a:avLst>
          </a:prstGeom>
          <a:solidFill>
            <a:srgbClr val="242E63"/>
          </a:solidFill>
          <a:ln w="12700">
            <a:solidFill>
              <a:srgbClr val="3A4680"/>
            </a:solidFill>
            <a:prstDash val="solid"/>
          </a:ln>
        </p:spPr>
      </p:sp>
      <p:sp>
        <p:nvSpPr>
          <p:cNvPr id="11" name="Text 8"/>
          <p:cNvSpPr/>
          <p:nvPr/>
        </p:nvSpPr>
        <p:spPr>
          <a:xfrm>
            <a:off x="960120" y="5513832"/>
            <a:ext cx="2240280" cy="365760"/>
          </a:xfrm>
          <a:prstGeom prst="rect">
            <a:avLst/>
          </a:prstGeom>
          <a:noFill/>
          <a:ln/>
        </p:spPr>
        <p:txBody>
          <a:bodyPr wrap="square" lIns="0" tIns="0" rIns="0" bIns="0" rtlCol="0" anchor="b"/>
          <a:lstStyle/>
          <a:p>
            <a:pPr indent="0" marL="0">
              <a:buNone/>
            </a:pPr>
            <a:r>
              <a:rPr lang="en-US" sz="1350" b="1" dirty="0">
                <a:solidFill>
                  <a:srgbClr val="FFFFFF"/>
                </a:solidFill>
                <a:latin typeface="Calibri" pitchFamily="34" charset="0"/>
                <a:ea typeface="Calibri" pitchFamily="34" charset="-122"/>
                <a:cs typeface="Calibri" pitchFamily="34" charset="-120"/>
              </a:rPr>
              <a:t>Prajapati Vedant</a:t>
            </a:r>
            <a:endParaRPr lang="en-US" sz="1350" dirty="0"/>
          </a:p>
        </p:txBody>
      </p:sp>
      <p:sp>
        <p:nvSpPr>
          <p:cNvPr id="12" name="Text 9"/>
          <p:cNvSpPr/>
          <p:nvPr/>
        </p:nvSpPr>
        <p:spPr>
          <a:xfrm>
            <a:off x="960120" y="5897880"/>
            <a:ext cx="2240280" cy="32004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Team Lead</a:t>
            </a:r>
            <a:endParaRPr lang="en-US" sz="1100" dirty="0"/>
          </a:p>
        </p:txBody>
      </p:sp>
      <p:sp>
        <p:nvSpPr>
          <p:cNvPr id="13" name="Shape 10"/>
          <p:cNvSpPr/>
          <p:nvPr/>
        </p:nvSpPr>
        <p:spPr>
          <a:xfrm>
            <a:off x="3566160" y="5440680"/>
            <a:ext cx="2514600" cy="1051560"/>
          </a:xfrm>
          <a:prstGeom prst="roundRect">
            <a:avLst>
              <a:gd name="adj" fmla="val 6957"/>
            </a:avLst>
          </a:prstGeom>
          <a:solidFill>
            <a:srgbClr val="242E63"/>
          </a:solidFill>
          <a:ln w="12700">
            <a:solidFill>
              <a:srgbClr val="3A4680"/>
            </a:solidFill>
            <a:prstDash val="solid"/>
          </a:ln>
        </p:spPr>
      </p:sp>
      <p:sp>
        <p:nvSpPr>
          <p:cNvPr id="14" name="Text 11"/>
          <p:cNvSpPr/>
          <p:nvPr/>
        </p:nvSpPr>
        <p:spPr>
          <a:xfrm>
            <a:off x="3703320" y="5513832"/>
            <a:ext cx="2240280" cy="365760"/>
          </a:xfrm>
          <a:prstGeom prst="rect">
            <a:avLst/>
          </a:prstGeom>
          <a:noFill/>
          <a:ln/>
        </p:spPr>
        <p:txBody>
          <a:bodyPr wrap="square" lIns="0" tIns="0" rIns="0" bIns="0" rtlCol="0" anchor="b"/>
          <a:lstStyle/>
          <a:p>
            <a:pPr indent="0" marL="0">
              <a:buNone/>
            </a:pPr>
            <a:r>
              <a:rPr lang="en-US" sz="1350" b="1" dirty="0">
                <a:solidFill>
                  <a:srgbClr val="FFFFFF"/>
                </a:solidFill>
                <a:latin typeface="Calibri" pitchFamily="34" charset="0"/>
                <a:ea typeface="Calibri" pitchFamily="34" charset="-122"/>
                <a:cs typeface="Calibri" pitchFamily="34" charset="-120"/>
              </a:rPr>
              <a:t>Rana Harsh</a:t>
            </a:r>
            <a:endParaRPr lang="en-US" sz="1350" dirty="0"/>
          </a:p>
        </p:txBody>
      </p:sp>
      <p:sp>
        <p:nvSpPr>
          <p:cNvPr id="15" name="Text 12"/>
          <p:cNvSpPr/>
          <p:nvPr/>
        </p:nvSpPr>
        <p:spPr>
          <a:xfrm>
            <a:off x="3703320" y="5897880"/>
            <a:ext cx="2240280" cy="320040"/>
          </a:xfrm>
          <a:prstGeom prst="rect">
            <a:avLst/>
          </a:prstGeom>
          <a:noFill/>
          <a:ln/>
        </p:spPr>
        <p:txBody>
          <a:bodyPr wrap="square" lIns="0" tIns="0" rIns="0" bIns="0" rtlCol="0" anchor="ctr"/>
          <a:lstStyle/>
          <a:p>
            <a:pPr indent="0" marL="0">
              <a:buNone/>
            </a:pPr>
            <a:r>
              <a:rPr lang="en-US" sz="1100" dirty="0">
                <a:solidFill>
                  <a:srgbClr val="A9B6D8"/>
                </a:solidFill>
                <a:latin typeface="Calibri" pitchFamily="34" charset="0"/>
                <a:ea typeface="Calibri" pitchFamily="34" charset="-122"/>
                <a:cs typeface="Calibri" pitchFamily="34" charset="-120"/>
              </a:rPr>
              <a:t>Team Member</a:t>
            </a:r>
            <a:endParaRPr lang="en-US" sz="1100" dirty="0"/>
          </a:p>
        </p:txBody>
      </p:sp>
      <p:sp>
        <p:nvSpPr>
          <p:cNvPr id="16" name="Shape 13"/>
          <p:cNvSpPr/>
          <p:nvPr/>
        </p:nvSpPr>
        <p:spPr>
          <a:xfrm>
            <a:off x="6309360" y="5440680"/>
            <a:ext cx="2514600" cy="1051560"/>
          </a:xfrm>
          <a:prstGeom prst="roundRect">
            <a:avLst>
              <a:gd name="adj" fmla="val 6957"/>
            </a:avLst>
          </a:prstGeom>
          <a:solidFill>
            <a:srgbClr val="242E63"/>
          </a:solidFill>
          <a:ln w="12700">
            <a:solidFill>
              <a:srgbClr val="3A4680"/>
            </a:solidFill>
            <a:prstDash val="solid"/>
          </a:ln>
        </p:spPr>
      </p:sp>
      <p:sp>
        <p:nvSpPr>
          <p:cNvPr id="17" name="Text 14"/>
          <p:cNvSpPr/>
          <p:nvPr/>
        </p:nvSpPr>
        <p:spPr>
          <a:xfrm>
            <a:off x="6446520" y="5513832"/>
            <a:ext cx="2240280" cy="365760"/>
          </a:xfrm>
          <a:prstGeom prst="rect">
            <a:avLst/>
          </a:prstGeom>
          <a:noFill/>
          <a:ln/>
        </p:spPr>
        <p:txBody>
          <a:bodyPr wrap="square" lIns="0" tIns="0" rIns="0" bIns="0" rtlCol="0" anchor="b"/>
          <a:lstStyle/>
          <a:p>
            <a:pPr indent="0" marL="0">
              <a:buNone/>
            </a:pPr>
            <a:r>
              <a:rPr lang="en-US" sz="1350" b="1" dirty="0">
                <a:solidFill>
                  <a:srgbClr val="FFFFFF"/>
                </a:solidFill>
                <a:latin typeface="Calibri" pitchFamily="34" charset="0"/>
                <a:ea typeface="Calibri" pitchFamily="34" charset="-122"/>
                <a:cs typeface="Calibri" pitchFamily="34" charset="-120"/>
              </a:rPr>
              <a:t>Savaliya Harshit</a:t>
            </a:r>
            <a:endParaRPr lang="en-US" sz="1350" dirty="0"/>
          </a:p>
        </p:txBody>
      </p:sp>
      <p:sp>
        <p:nvSpPr>
          <p:cNvPr id="18" name="Text 15"/>
          <p:cNvSpPr/>
          <p:nvPr/>
        </p:nvSpPr>
        <p:spPr>
          <a:xfrm>
            <a:off x="6446520" y="5897880"/>
            <a:ext cx="2240280" cy="320040"/>
          </a:xfrm>
          <a:prstGeom prst="rect">
            <a:avLst/>
          </a:prstGeom>
          <a:noFill/>
          <a:ln/>
        </p:spPr>
        <p:txBody>
          <a:bodyPr wrap="square" lIns="0" tIns="0" rIns="0" bIns="0" rtlCol="0" anchor="ctr"/>
          <a:lstStyle/>
          <a:p>
            <a:pPr indent="0" marL="0">
              <a:buNone/>
            </a:pPr>
            <a:r>
              <a:rPr lang="en-US" sz="1100" dirty="0">
                <a:solidFill>
                  <a:srgbClr val="A9B6D8"/>
                </a:solidFill>
                <a:latin typeface="Calibri" pitchFamily="34" charset="0"/>
                <a:ea typeface="Calibri" pitchFamily="34" charset="-122"/>
                <a:cs typeface="Calibri" pitchFamily="34" charset="-120"/>
              </a:rPr>
              <a:t>Team Member</a:t>
            </a:r>
            <a:endParaRPr lang="en-US" sz="1100" dirty="0"/>
          </a:p>
        </p:txBody>
      </p:sp>
      <p:sp>
        <p:nvSpPr>
          <p:cNvPr id="19" name="Shape 16"/>
          <p:cNvSpPr/>
          <p:nvPr/>
        </p:nvSpPr>
        <p:spPr>
          <a:xfrm>
            <a:off x="9052560" y="5440680"/>
            <a:ext cx="2514600" cy="1051560"/>
          </a:xfrm>
          <a:prstGeom prst="roundRect">
            <a:avLst>
              <a:gd name="adj" fmla="val 6957"/>
            </a:avLst>
          </a:prstGeom>
          <a:solidFill>
            <a:srgbClr val="242E63"/>
          </a:solidFill>
          <a:ln w="12700">
            <a:solidFill>
              <a:srgbClr val="3A4680"/>
            </a:solidFill>
            <a:prstDash val="solid"/>
          </a:ln>
        </p:spPr>
      </p:sp>
      <p:sp>
        <p:nvSpPr>
          <p:cNvPr id="20" name="Text 17"/>
          <p:cNvSpPr/>
          <p:nvPr/>
        </p:nvSpPr>
        <p:spPr>
          <a:xfrm>
            <a:off x="9189720" y="5513832"/>
            <a:ext cx="2240280" cy="365760"/>
          </a:xfrm>
          <a:prstGeom prst="rect">
            <a:avLst/>
          </a:prstGeom>
          <a:noFill/>
          <a:ln/>
        </p:spPr>
        <p:txBody>
          <a:bodyPr wrap="square" lIns="0" tIns="0" rIns="0" bIns="0" rtlCol="0" anchor="b"/>
          <a:lstStyle/>
          <a:p>
            <a:pPr indent="0" marL="0">
              <a:buNone/>
            </a:pPr>
            <a:r>
              <a:rPr lang="en-US" sz="1350" b="1" dirty="0">
                <a:solidFill>
                  <a:srgbClr val="FFFFFF"/>
                </a:solidFill>
                <a:latin typeface="Calibri" pitchFamily="34" charset="0"/>
                <a:ea typeface="Calibri" pitchFamily="34" charset="-122"/>
                <a:cs typeface="Calibri" pitchFamily="34" charset="-120"/>
              </a:rPr>
              <a:t>Patel Manav</a:t>
            </a:r>
            <a:endParaRPr lang="en-US" sz="1350" dirty="0"/>
          </a:p>
        </p:txBody>
      </p:sp>
      <p:sp>
        <p:nvSpPr>
          <p:cNvPr id="21" name="Text 18"/>
          <p:cNvSpPr/>
          <p:nvPr/>
        </p:nvSpPr>
        <p:spPr>
          <a:xfrm>
            <a:off x="9189720" y="5897880"/>
            <a:ext cx="2240280" cy="320040"/>
          </a:xfrm>
          <a:prstGeom prst="rect">
            <a:avLst/>
          </a:prstGeom>
          <a:noFill/>
          <a:ln/>
        </p:spPr>
        <p:txBody>
          <a:bodyPr wrap="square" lIns="0" tIns="0" rIns="0" bIns="0" rtlCol="0" anchor="ctr"/>
          <a:lstStyle/>
          <a:p>
            <a:pPr indent="0" marL="0">
              <a:buNone/>
            </a:pPr>
            <a:r>
              <a:rPr lang="en-US" sz="1100" dirty="0">
                <a:solidFill>
                  <a:srgbClr val="A9B6D8"/>
                </a:solidFill>
                <a:latin typeface="Calibri" pitchFamily="34" charset="0"/>
                <a:ea typeface="Calibri" pitchFamily="34" charset="-122"/>
                <a:cs typeface="Calibri" pitchFamily="34" charset="-120"/>
              </a:rPr>
              <a:t>Team Member</a:t>
            </a:r>
            <a:endParaRPr lang="en-US" sz="1100" dirty="0"/>
          </a:p>
        </p:txBody>
      </p:sp>
      <p:sp>
        <p:nvSpPr>
          <p:cNvPr id="22" name="Text 19"/>
          <p:cNvSpPr/>
          <p:nvPr/>
        </p:nvSpPr>
        <p:spPr>
          <a:xfrm>
            <a:off x="6812280" y="1051560"/>
            <a:ext cx="4892040" cy="32004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Team Infinite Loop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411480"/>
            <a:ext cx="2377440" cy="365760"/>
          </a:xfrm>
          <a:prstGeom prst="roundRect">
            <a:avLst>
              <a:gd name="adj" fmla="val 50000"/>
            </a:avLst>
          </a:prstGeom>
          <a:solidFill>
            <a:srgbClr val="C0392B"/>
          </a:solidFill>
          <a:ln/>
        </p:spPr>
      </p:sp>
      <p:sp>
        <p:nvSpPr>
          <p:cNvPr id="3" name="Text 1"/>
          <p:cNvSpPr/>
          <p:nvPr/>
        </p:nvSpPr>
        <p:spPr>
          <a:xfrm>
            <a:off x="457200" y="411480"/>
            <a:ext cx="23774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THE PROBLEM</a:t>
            </a:r>
            <a:endParaRPr lang="en-US" sz="1200" dirty="0"/>
          </a:p>
        </p:txBody>
      </p:sp>
      <p:sp>
        <p:nvSpPr>
          <p:cNvPr id="4" name="Text 2"/>
          <p:cNvSpPr/>
          <p:nvPr/>
        </p:nvSpPr>
        <p:spPr>
          <a:xfrm>
            <a:off x="457200" y="914400"/>
            <a:ext cx="10515600" cy="640080"/>
          </a:xfrm>
          <a:prstGeom prst="rect">
            <a:avLst/>
          </a:prstGeom>
          <a:noFill/>
          <a:ln/>
        </p:spPr>
        <p:txBody>
          <a:bodyPr wrap="square" lIns="0" tIns="0" rIns="0" bIns="0" rtlCol="0" anchor="ctr"/>
          <a:lstStyle/>
          <a:p>
            <a:pPr indent="0" marL="0">
              <a:buNone/>
            </a:pPr>
            <a:r>
              <a:rPr lang="en-US" sz="3000" b="1" dirty="0">
                <a:solidFill>
                  <a:srgbClr val="0B2436"/>
                </a:solidFill>
                <a:latin typeface="Cambria" pitchFamily="34" charset="0"/>
                <a:ea typeface="Cambria" pitchFamily="34" charset="-122"/>
                <a:cs typeface="Cambria" pitchFamily="34" charset="-120"/>
              </a:rPr>
              <a:t>Ports Are Bleeding Money to Congestion</a:t>
            </a:r>
            <a:endParaRPr lang="en-US" sz="3000" dirty="0"/>
          </a:p>
        </p:txBody>
      </p:sp>
      <p:sp>
        <p:nvSpPr>
          <p:cNvPr id="5" name="Shape 3"/>
          <p:cNvSpPr/>
          <p:nvPr/>
        </p:nvSpPr>
        <p:spPr>
          <a:xfrm>
            <a:off x="457200" y="1783080"/>
            <a:ext cx="3383280" cy="4251960"/>
          </a:xfrm>
          <a:prstGeom prst="roundRect">
            <a:avLst>
              <a:gd name="adj" fmla="val 2703"/>
            </a:avLst>
          </a:prstGeom>
          <a:solidFill>
            <a:srgbClr val="21295C"/>
          </a:solidFill>
          <a:ln/>
        </p:spPr>
      </p:sp>
      <p:sp>
        <p:nvSpPr>
          <p:cNvPr id="6" name="Text 4"/>
          <p:cNvSpPr/>
          <p:nvPr/>
        </p:nvSpPr>
        <p:spPr>
          <a:xfrm>
            <a:off x="457200" y="2331720"/>
            <a:ext cx="3383280"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$10B+</a:t>
            </a:r>
            <a:endParaRPr lang="en-US" sz="5400" dirty="0"/>
          </a:p>
        </p:txBody>
      </p:sp>
      <p:sp>
        <p:nvSpPr>
          <p:cNvPr id="7" name="Text 5"/>
          <p:cNvSpPr/>
          <p:nvPr/>
        </p:nvSpPr>
        <p:spPr>
          <a:xfrm>
            <a:off x="777240" y="3337560"/>
            <a:ext cx="2743200" cy="1188720"/>
          </a:xfrm>
          <a:prstGeom prst="rect">
            <a:avLst/>
          </a:prstGeom>
          <a:noFill/>
          <a:ln/>
        </p:spPr>
        <p:txBody>
          <a:bodyPr wrap="square" lIns="0" tIns="0" rIns="0" bIns="0" rtlCol="0" anchor="ctr"/>
          <a:lstStyle/>
          <a:p>
            <a:pPr algn="ctr" indent="0" marL="0">
              <a:buNone/>
            </a:pPr>
            <a:r>
              <a:rPr lang="en-US" sz="1450" dirty="0">
                <a:solidFill>
                  <a:srgbClr val="CADCFC"/>
                </a:solidFill>
                <a:latin typeface="Calibri" pitchFamily="34" charset="0"/>
                <a:ea typeface="Calibri" pitchFamily="34" charset="-122"/>
                <a:cs typeface="Calibri" pitchFamily="34" charset="-120"/>
              </a:rPr>
              <a:t>lost annually to demurrage fees from global container port congestion</a:t>
            </a:r>
            <a:endParaRPr lang="en-US" sz="1450" dirty="0"/>
          </a:p>
        </p:txBody>
      </p:sp>
      <p:pic>
        <p:nvPicPr>
          <p:cNvPr id="8" name="Image 0" descr="/home/claude/pptx_project/icons/dollar.png">    </p:cNvPr>
          <p:cNvPicPr>
            <a:picLocks noChangeAspect="1"/>
          </p:cNvPicPr>
          <p:nvPr/>
        </p:nvPicPr>
        <p:blipFill>
          <a:blip r:embed="rId1"/>
          <a:stretch>
            <a:fillRect/>
          </a:stretch>
        </p:blipFill>
        <p:spPr>
          <a:xfrm>
            <a:off x="1417320" y="4709160"/>
            <a:ext cx="1188720" cy="1188720"/>
          </a:xfrm>
          <a:prstGeom prst="rect">
            <a:avLst/>
          </a:prstGeom>
        </p:spPr>
      </p:pic>
      <p:sp>
        <p:nvSpPr>
          <p:cNvPr id="9" name="Shape 6"/>
          <p:cNvSpPr/>
          <p:nvPr/>
        </p:nvSpPr>
        <p:spPr>
          <a:xfrm>
            <a:off x="4160520" y="1783080"/>
            <a:ext cx="7571232" cy="1920240"/>
          </a:xfrm>
          <a:prstGeom prst="roundRect">
            <a:avLst>
              <a:gd name="adj" fmla="val 3810"/>
            </a:avLst>
          </a:prstGeom>
          <a:solidFill>
            <a:srgbClr val="F4F8FA"/>
          </a:solidFill>
          <a:ln w="12700">
            <a:solidFill>
              <a:srgbClr val="DCE6EA"/>
            </a:solidFill>
            <a:prstDash val="solid"/>
          </a:ln>
        </p:spPr>
      </p:sp>
      <p:pic>
        <p:nvPicPr>
          <p:cNvPr id="10" name="Image 1" descr="/home/claude/pptx_project/icons/filetext.png">    </p:cNvPr>
          <p:cNvPicPr>
            <a:picLocks noChangeAspect="1"/>
          </p:cNvPicPr>
          <p:nvPr/>
        </p:nvPicPr>
        <p:blipFill>
          <a:blip r:embed="rId2"/>
          <a:stretch>
            <a:fillRect/>
          </a:stretch>
        </p:blipFill>
        <p:spPr>
          <a:xfrm>
            <a:off x="4434840" y="2011680"/>
            <a:ext cx="822960" cy="822960"/>
          </a:xfrm>
          <a:prstGeom prst="rect">
            <a:avLst/>
          </a:prstGeom>
        </p:spPr>
      </p:pic>
      <p:sp>
        <p:nvSpPr>
          <p:cNvPr id="11" name="Text 7"/>
          <p:cNvSpPr/>
          <p:nvPr/>
        </p:nvSpPr>
        <p:spPr>
          <a:xfrm>
            <a:off x="5440680" y="1965960"/>
            <a:ext cx="6016752" cy="365760"/>
          </a:xfrm>
          <a:prstGeom prst="rect">
            <a:avLst/>
          </a:prstGeom>
          <a:noFill/>
          <a:ln/>
        </p:spPr>
        <p:txBody>
          <a:bodyPr wrap="square" lIns="0" tIns="0" rIns="0" bIns="0" rtlCol="0" anchor="ctr"/>
          <a:lstStyle/>
          <a:p>
            <a:pPr indent="0" marL="0">
              <a:buNone/>
            </a:pPr>
            <a:r>
              <a:rPr lang="en-US" sz="1600" b="1" dirty="0">
                <a:solidFill>
                  <a:srgbClr val="0B2436"/>
                </a:solidFill>
                <a:latin typeface="Calibri" pitchFamily="34" charset="0"/>
                <a:ea typeface="Calibri" pitchFamily="34" charset="-122"/>
                <a:cs typeface="Calibri" pitchFamily="34" charset="-120"/>
              </a:rPr>
              <a:t>The Old Way</a:t>
            </a:r>
            <a:endParaRPr lang="en-US" sz="1600" dirty="0"/>
          </a:p>
        </p:txBody>
      </p:sp>
      <p:sp>
        <p:nvSpPr>
          <p:cNvPr id="12" name="Text 8"/>
          <p:cNvSpPr/>
          <p:nvPr/>
        </p:nvSpPr>
        <p:spPr>
          <a:xfrm>
            <a:off x="5440680" y="2377440"/>
            <a:ext cx="6016752" cy="118872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5B7184"/>
                </a:solidFill>
                <a:latin typeface="Calibri" pitchFamily="34" charset="0"/>
                <a:ea typeface="Calibri" pitchFamily="34" charset="-122"/>
                <a:cs typeface="Calibri" pitchFamily="34" charset="-120"/>
              </a:rPr>
              <a:t>Port managers rely on static spreadsheets for planning</a:t>
            </a:r>
            <a:endParaRPr lang="en-US" sz="1450" dirty="0"/>
          </a:p>
          <a:p>
            <a:pPr marL="342900" indent="-342900">
              <a:spcAft>
                <a:spcPts val="800"/>
              </a:spcAft>
              <a:buSzPct val="100000"/>
              <a:buChar char="•"/>
            </a:pPr>
            <a:r>
              <a:rPr lang="en-US" sz="1450" dirty="0">
                <a:solidFill>
                  <a:srgbClr val="5B7184"/>
                </a:solidFill>
                <a:latin typeface="Calibri" pitchFamily="34" charset="0"/>
                <a:ea typeface="Calibri" pitchFamily="34" charset="-122"/>
                <a:cs typeface="Calibri" pitchFamily="34" charset="-120"/>
              </a:rPr>
              <a:t>First-come-first-served (FCFS) scheduling ignores real constraints</a:t>
            </a:r>
            <a:endParaRPr lang="en-US" sz="1450" dirty="0"/>
          </a:p>
        </p:txBody>
      </p:sp>
      <p:sp>
        <p:nvSpPr>
          <p:cNvPr id="13" name="Shape 9"/>
          <p:cNvSpPr/>
          <p:nvPr/>
        </p:nvSpPr>
        <p:spPr>
          <a:xfrm>
            <a:off x="4160520" y="3886200"/>
            <a:ext cx="7571232" cy="2148840"/>
          </a:xfrm>
          <a:prstGeom prst="roundRect">
            <a:avLst>
              <a:gd name="adj" fmla="val 3404"/>
            </a:avLst>
          </a:prstGeom>
          <a:solidFill>
            <a:srgbClr val="F4F8FA"/>
          </a:solidFill>
          <a:ln w="12700">
            <a:solidFill>
              <a:srgbClr val="DCE6EA"/>
            </a:solidFill>
            <a:prstDash val="solid"/>
          </a:ln>
        </p:spPr>
      </p:sp>
      <p:pic>
        <p:nvPicPr>
          <p:cNvPr id="14" name="Image 2" descr="/home/claude/pptx_project/icons/alert.png">    </p:cNvPr>
          <p:cNvPicPr>
            <a:picLocks noChangeAspect="1"/>
          </p:cNvPicPr>
          <p:nvPr/>
        </p:nvPicPr>
        <p:blipFill>
          <a:blip r:embed="rId3"/>
          <a:stretch>
            <a:fillRect/>
          </a:stretch>
        </p:blipFill>
        <p:spPr>
          <a:xfrm>
            <a:off x="4434840" y="4114800"/>
            <a:ext cx="822960" cy="822960"/>
          </a:xfrm>
          <a:prstGeom prst="rect">
            <a:avLst/>
          </a:prstGeom>
        </p:spPr>
      </p:pic>
      <p:sp>
        <p:nvSpPr>
          <p:cNvPr id="15" name="Text 10"/>
          <p:cNvSpPr/>
          <p:nvPr/>
        </p:nvSpPr>
        <p:spPr>
          <a:xfrm>
            <a:off x="5440680" y="4069080"/>
            <a:ext cx="6016752" cy="365760"/>
          </a:xfrm>
          <a:prstGeom prst="rect">
            <a:avLst/>
          </a:prstGeom>
          <a:noFill/>
          <a:ln/>
        </p:spPr>
        <p:txBody>
          <a:bodyPr wrap="square" lIns="0" tIns="0" rIns="0" bIns="0" rtlCol="0" anchor="ctr"/>
          <a:lstStyle/>
          <a:p>
            <a:pPr indent="0" marL="0">
              <a:buNone/>
            </a:pPr>
            <a:r>
              <a:rPr lang="en-US" sz="1600" b="1" dirty="0">
                <a:solidFill>
                  <a:srgbClr val="0B2436"/>
                </a:solidFill>
                <a:latin typeface="Calibri" pitchFamily="34" charset="0"/>
                <a:ea typeface="Calibri" pitchFamily="34" charset="-122"/>
                <a:cs typeface="Calibri" pitchFamily="34" charset="-120"/>
              </a:rPr>
              <a:t>The Consequences</a:t>
            </a:r>
            <a:endParaRPr lang="en-US" sz="1600" dirty="0"/>
          </a:p>
        </p:txBody>
      </p:sp>
      <p:sp>
        <p:nvSpPr>
          <p:cNvPr id="16" name="Text 11"/>
          <p:cNvSpPr/>
          <p:nvPr/>
        </p:nvSpPr>
        <p:spPr>
          <a:xfrm>
            <a:off x="5440680" y="4480560"/>
            <a:ext cx="6016752" cy="14630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5B7184"/>
                </a:solidFill>
                <a:latin typeface="Calibri" pitchFamily="34" charset="0"/>
                <a:ea typeface="Calibri" pitchFamily="34" charset="-122"/>
                <a:cs typeface="Calibri" pitchFamily="34" charset="-120"/>
              </a:rPr>
              <a:t>Inefficient berth allocation leaves vessels waiting</a:t>
            </a:r>
            <a:endParaRPr lang="en-US" sz="1450" dirty="0"/>
          </a:p>
          <a:p>
            <a:pPr marL="342900" indent="-342900">
              <a:spcAft>
                <a:spcPts val="800"/>
              </a:spcAft>
              <a:buSzPct val="100000"/>
              <a:buChar char="•"/>
            </a:pPr>
            <a:r>
              <a:rPr lang="en-US" sz="1450" dirty="0">
                <a:solidFill>
                  <a:srgbClr val="5B7184"/>
                </a:solidFill>
                <a:latin typeface="Calibri" pitchFamily="34" charset="0"/>
                <a:ea typeface="Calibri" pitchFamily="34" charset="-122"/>
                <a:cs typeface="Calibri" pitchFamily="34" charset="-120"/>
              </a:rPr>
              <a:t>Unoptimized crane deployment wastes capacity</a:t>
            </a:r>
            <a:endParaRPr lang="en-US" sz="1450" dirty="0"/>
          </a:p>
          <a:p>
            <a:pPr marL="342900" indent="-342900">
              <a:spcAft>
                <a:spcPts val="800"/>
              </a:spcAft>
              <a:buSzPct val="100000"/>
              <a:buChar char="•"/>
            </a:pPr>
            <a:r>
              <a:rPr lang="en-US" sz="1450" dirty="0">
                <a:solidFill>
                  <a:srgbClr val="5B7184"/>
                </a:solidFill>
                <a:latin typeface="Calibri" pitchFamily="34" charset="0"/>
                <a:ea typeface="Calibri" pitchFamily="34" charset="-122"/>
                <a:cs typeface="Calibri" pitchFamily="34" charset="-120"/>
              </a:rPr>
              <a:t>Operational bottlenecks are detected far too late</a:t>
            </a:r>
            <a:endParaRPr lang="en-US" sz="1450" dirty="0"/>
          </a:p>
        </p:txBody>
      </p:sp>
      <p:sp>
        <p:nvSpPr>
          <p:cNvPr id="17"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1050" dirty="0">
                <a:solidFill>
                  <a:srgbClr val="5B7184"/>
                </a:solidFill>
                <a:latin typeface="Calibri" pitchFamily="34" charset="0"/>
                <a:ea typeface="Calibri" pitchFamily="34" charset="-122"/>
                <a:cs typeface="Calibri" pitchFamily="34" charset="-120"/>
              </a:rPr>
              <a:t>Problem Statement</a:t>
            </a:r>
            <a:endParaRPr lang="en-US" sz="1050" dirty="0"/>
          </a:p>
        </p:txBody>
      </p:sp>
      <p:sp>
        <p:nvSpPr>
          <p:cNvPr id="18" name="Text 13"/>
          <p:cNvSpPr/>
          <p:nvPr/>
        </p:nvSpPr>
        <p:spPr>
          <a:xfrm>
            <a:off x="8076895" y="6473952"/>
            <a:ext cx="3657600" cy="274320"/>
          </a:xfrm>
          <a:prstGeom prst="rect">
            <a:avLst/>
          </a:prstGeom>
          <a:noFill/>
          <a:ln/>
        </p:spPr>
        <p:txBody>
          <a:bodyPr wrap="square" lIns="0" tIns="0" rIns="0" bIns="0" rtlCol="0" anchor="ctr"/>
          <a:lstStyle/>
          <a:p>
            <a:pPr algn="r" indent="0" marL="0">
              <a:buNone/>
            </a:pPr>
            <a:r>
              <a:rPr lang="en-US" sz="1050" dirty="0">
                <a:solidFill>
                  <a:srgbClr val="5B7184"/>
                </a:solidFill>
                <a:latin typeface="Calibri" pitchFamily="34" charset="0"/>
                <a:ea typeface="Calibri" pitchFamily="34" charset="-122"/>
                <a:cs typeface="Calibri" pitchFamily="34" charset="-120"/>
              </a:rPr>
              <a:t>Infinite Loop  ·  02 / 08</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411480"/>
            <a:ext cx="2377440" cy="365760"/>
          </a:xfrm>
          <a:prstGeom prst="roundRect">
            <a:avLst>
              <a:gd name="adj" fmla="val 50000"/>
            </a:avLst>
          </a:prstGeom>
          <a:solidFill>
            <a:srgbClr val="1C7293"/>
          </a:solidFill>
          <a:ln/>
        </p:spPr>
      </p:sp>
      <p:sp>
        <p:nvSpPr>
          <p:cNvPr id="3" name="Text 1"/>
          <p:cNvSpPr/>
          <p:nvPr/>
        </p:nvSpPr>
        <p:spPr>
          <a:xfrm>
            <a:off x="457200" y="411480"/>
            <a:ext cx="23774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OUR SOLUTION</a:t>
            </a:r>
            <a:endParaRPr lang="en-US" sz="1200" dirty="0"/>
          </a:p>
        </p:txBody>
      </p:sp>
      <p:sp>
        <p:nvSpPr>
          <p:cNvPr id="4" name="Text 2"/>
          <p:cNvSpPr/>
          <p:nvPr/>
        </p:nvSpPr>
        <p:spPr>
          <a:xfrm>
            <a:off x="457200" y="914400"/>
            <a:ext cx="11247120" cy="640080"/>
          </a:xfrm>
          <a:prstGeom prst="rect">
            <a:avLst/>
          </a:prstGeom>
          <a:noFill/>
          <a:ln/>
        </p:spPr>
        <p:txBody>
          <a:bodyPr wrap="square" lIns="0" tIns="0" rIns="0" bIns="0" rtlCol="0" anchor="ctr"/>
          <a:lstStyle/>
          <a:p>
            <a:pPr indent="0" marL="0">
              <a:buNone/>
            </a:pPr>
            <a:r>
              <a:rPr lang="en-US" sz="2800" b="1" dirty="0">
                <a:solidFill>
                  <a:srgbClr val="0B2436"/>
                </a:solidFill>
                <a:latin typeface="Cambria" pitchFamily="34" charset="0"/>
                <a:ea typeface="Cambria" pitchFamily="34" charset="-122"/>
                <a:cs typeface="Cambria" pitchFamily="34" charset="-120"/>
              </a:rPr>
              <a:t>One Platform: Simulate, Optimize, Predict, Plan</a:t>
            </a:r>
            <a:endParaRPr lang="en-US" sz="2800" dirty="0"/>
          </a:p>
        </p:txBody>
      </p:sp>
      <p:sp>
        <p:nvSpPr>
          <p:cNvPr id="5" name="Text 3"/>
          <p:cNvSpPr/>
          <p:nvPr/>
        </p:nvSpPr>
        <p:spPr>
          <a:xfrm>
            <a:off x="457200" y="1481328"/>
            <a:ext cx="11247120" cy="457200"/>
          </a:xfrm>
          <a:prstGeom prst="rect">
            <a:avLst/>
          </a:prstGeom>
          <a:noFill/>
          <a:ln/>
        </p:spPr>
        <p:txBody>
          <a:bodyPr wrap="square" lIns="0" tIns="0" rIns="0" bIns="0" rtlCol="0" anchor="ctr"/>
          <a:lstStyle/>
          <a:p>
            <a:pPr indent="0" marL="0">
              <a:buNone/>
            </a:pPr>
            <a:r>
              <a:rPr lang="en-US" sz="1450" dirty="0">
                <a:solidFill>
                  <a:srgbClr val="5B7184"/>
                </a:solidFill>
                <a:latin typeface="Calibri" pitchFamily="34" charset="0"/>
                <a:ea typeface="Calibri" pitchFamily="34" charset="-122"/>
                <a:cs typeface="Calibri" pitchFamily="34" charset="-120"/>
              </a:rPr>
              <a:t>An end-to-end full-stack AI dashboard integrating discrete event simulation, constraint optimization, and forward prediction.</a:t>
            </a:r>
            <a:endParaRPr lang="en-US" sz="1450" dirty="0"/>
          </a:p>
        </p:txBody>
      </p:sp>
      <p:sp>
        <p:nvSpPr>
          <p:cNvPr id="6" name="Shape 4"/>
          <p:cNvSpPr/>
          <p:nvPr/>
        </p:nvSpPr>
        <p:spPr>
          <a:xfrm>
            <a:off x="457200" y="2194560"/>
            <a:ext cx="2057400" cy="1965960"/>
          </a:xfrm>
          <a:prstGeom prst="roundRect">
            <a:avLst>
              <a:gd name="adj" fmla="val 4186"/>
            </a:avLst>
          </a:prstGeom>
          <a:solidFill>
            <a:srgbClr val="F4F8FA"/>
          </a:solidFill>
          <a:ln w="12700">
            <a:solidFill>
              <a:srgbClr val="DCE6EA"/>
            </a:solidFill>
            <a:prstDash val="solid"/>
          </a:ln>
        </p:spPr>
      </p:sp>
      <p:pic>
        <p:nvPicPr>
          <p:cNvPr id="7" name="Image 0" descr="/home/claude/pptx_project/icons/activity.png">    </p:cNvPr>
          <p:cNvPicPr>
            <a:picLocks noChangeAspect="1"/>
          </p:cNvPicPr>
          <p:nvPr/>
        </p:nvPicPr>
        <p:blipFill>
          <a:blip r:embed="rId1"/>
          <a:stretch>
            <a:fillRect/>
          </a:stretch>
        </p:blipFill>
        <p:spPr>
          <a:xfrm>
            <a:off x="1097280" y="2423160"/>
            <a:ext cx="777240" cy="777240"/>
          </a:xfrm>
          <a:prstGeom prst="rect">
            <a:avLst/>
          </a:prstGeom>
        </p:spPr>
      </p:pic>
      <p:sp>
        <p:nvSpPr>
          <p:cNvPr id="8" name="Text 5"/>
          <p:cNvSpPr/>
          <p:nvPr/>
        </p:nvSpPr>
        <p:spPr>
          <a:xfrm>
            <a:off x="548640" y="3291840"/>
            <a:ext cx="1874520" cy="320040"/>
          </a:xfrm>
          <a:prstGeom prst="rect">
            <a:avLst/>
          </a:prstGeom>
          <a:noFill/>
          <a:ln/>
        </p:spPr>
        <p:txBody>
          <a:bodyPr wrap="square" lIns="0" tIns="0" rIns="0" bIns="0" rtlCol="0" anchor="ctr"/>
          <a:lstStyle/>
          <a:p>
            <a:pPr algn="ctr" indent="0" marL="0">
              <a:buNone/>
            </a:pPr>
            <a:r>
              <a:rPr lang="en-US" sz="1400" b="1" dirty="0">
                <a:solidFill>
                  <a:srgbClr val="065A82"/>
                </a:solidFill>
                <a:latin typeface="Calibri" pitchFamily="34" charset="0"/>
                <a:ea typeface="Calibri" pitchFamily="34" charset="-122"/>
                <a:cs typeface="Calibri" pitchFamily="34" charset="-120"/>
              </a:rPr>
              <a:t>1. Simulate</a:t>
            </a:r>
            <a:endParaRPr lang="en-US" sz="1400" dirty="0"/>
          </a:p>
        </p:txBody>
      </p:sp>
      <p:sp>
        <p:nvSpPr>
          <p:cNvPr id="9" name="Text 6"/>
          <p:cNvSpPr/>
          <p:nvPr/>
        </p:nvSpPr>
        <p:spPr>
          <a:xfrm>
            <a:off x="566928" y="3611880"/>
            <a:ext cx="1837944" cy="502920"/>
          </a:xfrm>
          <a:prstGeom prst="rect">
            <a:avLst/>
          </a:prstGeom>
          <a:noFill/>
          <a:ln/>
        </p:spPr>
        <p:txBody>
          <a:bodyPr wrap="square" lIns="0" tIns="0" rIns="0" bIns="0" rtlCol="0" anchor="ctr"/>
          <a:lstStyle/>
          <a:p>
            <a:pPr algn="ctr" indent="0" marL="0">
              <a:buNone/>
            </a:pPr>
            <a:r>
              <a:rPr lang="en-US" sz="1080" dirty="0">
                <a:solidFill>
                  <a:srgbClr val="5B7184"/>
                </a:solidFill>
                <a:latin typeface="Calibri" pitchFamily="34" charset="0"/>
                <a:ea typeface="Calibri" pitchFamily="34" charset="-122"/>
                <a:cs typeface="Calibri" pitchFamily="34" charset="-120"/>
              </a:rPr>
              <a:t>SimPy discrete-event port model</a:t>
            </a:r>
            <a:endParaRPr lang="en-US" sz="1080" dirty="0"/>
          </a:p>
        </p:txBody>
      </p:sp>
      <p:sp>
        <p:nvSpPr>
          <p:cNvPr id="10" name="Text 7"/>
          <p:cNvSpPr/>
          <p:nvPr/>
        </p:nvSpPr>
        <p:spPr>
          <a:xfrm>
            <a:off x="2514600" y="2788920"/>
            <a:ext cx="240030" cy="54864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754630" y="2194560"/>
            <a:ext cx="2057400" cy="1965960"/>
          </a:xfrm>
          <a:prstGeom prst="roundRect">
            <a:avLst>
              <a:gd name="adj" fmla="val 4186"/>
            </a:avLst>
          </a:prstGeom>
          <a:solidFill>
            <a:srgbClr val="F4F8FA"/>
          </a:solidFill>
          <a:ln w="12700">
            <a:solidFill>
              <a:srgbClr val="DCE6EA"/>
            </a:solidFill>
            <a:prstDash val="solid"/>
          </a:ln>
        </p:spPr>
      </p:sp>
      <p:pic>
        <p:nvPicPr>
          <p:cNvPr id="12" name="Image 1" descr="/home/claude/pptx_project/icons/sliders.png">    </p:cNvPr>
          <p:cNvPicPr>
            <a:picLocks noChangeAspect="1"/>
          </p:cNvPicPr>
          <p:nvPr/>
        </p:nvPicPr>
        <p:blipFill>
          <a:blip r:embed="rId2"/>
          <a:stretch>
            <a:fillRect/>
          </a:stretch>
        </p:blipFill>
        <p:spPr>
          <a:xfrm>
            <a:off x="3394710" y="2423160"/>
            <a:ext cx="777240" cy="777240"/>
          </a:xfrm>
          <a:prstGeom prst="rect">
            <a:avLst/>
          </a:prstGeom>
        </p:spPr>
      </p:pic>
      <p:sp>
        <p:nvSpPr>
          <p:cNvPr id="13" name="Text 9"/>
          <p:cNvSpPr/>
          <p:nvPr/>
        </p:nvSpPr>
        <p:spPr>
          <a:xfrm>
            <a:off x="2846070" y="3291840"/>
            <a:ext cx="1874520" cy="320040"/>
          </a:xfrm>
          <a:prstGeom prst="rect">
            <a:avLst/>
          </a:prstGeom>
          <a:noFill/>
          <a:ln/>
        </p:spPr>
        <p:txBody>
          <a:bodyPr wrap="square" lIns="0" tIns="0" rIns="0" bIns="0" rtlCol="0" anchor="ctr"/>
          <a:lstStyle/>
          <a:p>
            <a:pPr algn="ctr" indent="0" marL="0">
              <a:buNone/>
            </a:pPr>
            <a:r>
              <a:rPr lang="en-US" sz="1400" b="1" dirty="0">
                <a:solidFill>
                  <a:srgbClr val="065A82"/>
                </a:solidFill>
                <a:latin typeface="Calibri" pitchFamily="34" charset="0"/>
                <a:ea typeface="Calibri" pitchFamily="34" charset="-122"/>
                <a:cs typeface="Calibri" pitchFamily="34" charset="-120"/>
              </a:rPr>
              <a:t>2. Optimize</a:t>
            </a:r>
            <a:endParaRPr lang="en-US" sz="1400" dirty="0"/>
          </a:p>
        </p:txBody>
      </p:sp>
      <p:sp>
        <p:nvSpPr>
          <p:cNvPr id="14" name="Text 10"/>
          <p:cNvSpPr/>
          <p:nvPr/>
        </p:nvSpPr>
        <p:spPr>
          <a:xfrm>
            <a:off x="2864358" y="3611880"/>
            <a:ext cx="1837944" cy="502920"/>
          </a:xfrm>
          <a:prstGeom prst="rect">
            <a:avLst/>
          </a:prstGeom>
          <a:noFill/>
          <a:ln/>
        </p:spPr>
        <p:txBody>
          <a:bodyPr wrap="square" lIns="0" tIns="0" rIns="0" bIns="0" rtlCol="0" anchor="ctr"/>
          <a:lstStyle/>
          <a:p>
            <a:pPr algn="ctr" indent="0" marL="0">
              <a:buNone/>
            </a:pPr>
            <a:r>
              <a:rPr lang="en-US" sz="1080" dirty="0">
                <a:solidFill>
                  <a:srgbClr val="5B7184"/>
                </a:solidFill>
                <a:latin typeface="Calibri" pitchFamily="34" charset="0"/>
                <a:ea typeface="Calibri" pitchFamily="34" charset="-122"/>
                <a:cs typeface="Calibri" pitchFamily="34" charset="-120"/>
              </a:rPr>
              <a:t>CP-SAT berth &amp; crane allocation</a:t>
            </a:r>
            <a:endParaRPr lang="en-US" sz="1080" dirty="0"/>
          </a:p>
        </p:txBody>
      </p:sp>
      <p:sp>
        <p:nvSpPr>
          <p:cNvPr id="15" name="Text 11"/>
          <p:cNvSpPr/>
          <p:nvPr/>
        </p:nvSpPr>
        <p:spPr>
          <a:xfrm>
            <a:off x="4812030" y="2788920"/>
            <a:ext cx="240030" cy="54864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5052060" y="2194560"/>
            <a:ext cx="2057400" cy="1965960"/>
          </a:xfrm>
          <a:prstGeom prst="roundRect">
            <a:avLst>
              <a:gd name="adj" fmla="val 4186"/>
            </a:avLst>
          </a:prstGeom>
          <a:solidFill>
            <a:srgbClr val="F4F8FA"/>
          </a:solidFill>
          <a:ln w="12700">
            <a:solidFill>
              <a:srgbClr val="DCE6EA"/>
            </a:solidFill>
            <a:prstDash val="solid"/>
          </a:ln>
        </p:spPr>
      </p:sp>
      <p:pic>
        <p:nvPicPr>
          <p:cNvPr id="17" name="Image 2" descr="/home/claude/pptx_project/icons/trendup.png">    </p:cNvPr>
          <p:cNvPicPr>
            <a:picLocks noChangeAspect="1"/>
          </p:cNvPicPr>
          <p:nvPr/>
        </p:nvPicPr>
        <p:blipFill>
          <a:blip r:embed="rId3"/>
          <a:stretch>
            <a:fillRect/>
          </a:stretch>
        </p:blipFill>
        <p:spPr>
          <a:xfrm>
            <a:off x="5692140" y="2423160"/>
            <a:ext cx="777240" cy="777240"/>
          </a:xfrm>
          <a:prstGeom prst="rect">
            <a:avLst/>
          </a:prstGeom>
        </p:spPr>
      </p:pic>
      <p:sp>
        <p:nvSpPr>
          <p:cNvPr id="18" name="Text 13"/>
          <p:cNvSpPr/>
          <p:nvPr/>
        </p:nvSpPr>
        <p:spPr>
          <a:xfrm>
            <a:off x="5143500" y="3291840"/>
            <a:ext cx="1874520" cy="320040"/>
          </a:xfrm>
          <a:prstGeom prst="rect">
            <a:avLst/>
          </a:prstGeom>
          <a:noFill/>
          <a:ln/>
        </p:spPr>
        <p:txBody>
          <a:bodyPr wrap="square" lIns="0" tIns="0" rIns="0" bIns="0" rtlCol="0" anchor="ctr"/>
          <a:lstStyle/>
          <a:p>
            <a:pPr algn="ctr" indent="0" marL="0">
              <a:buNone/>
            </a:pPr>
            <a:r>
              <a:rPr lang="en-US" sz="1400" b="1" dirty="0">
                <a:solidFill>
                  <a:srgbClr val="065A82"/>
                </a:solidFill>
                <a:latin typeface="Calibri" pitchFamily="34" charset="0"/>
                <a:ea typeface="Calibri" pitchFamily="34" charset="-122"/>
                <a:cs typeface="Calibri" pitchFamily="34" charset="-120"/>
              </a:rPr>
              <a:t>3. Predict</a:t>
            </a:r>
            <a:endParaRPr lang="en-US" sz="1400" dirty="0"/>
          </a:p>
        </p:txBody>
      </p:sp>
      <p:sp>
        <p:nvSpPr>
          <p:cNvPr id="19" name="Text 14"/>
          <p:cNvSpPr/>
          <p:nvPr/>
        </p:nvSpPr>
        <p:spPr>
          <a:xfrm>
            <a:off x="5161788" y="3611880"/>
            <a:ext cx="1837944" cy="502920"/>
          </a:xfrm>
          <a:prstGeom prst="rect">
            <a:avLst/>
          </a:prstGeom>
          <a:noFill/>
          <a:ln/>
        </p:spPr>
        <p:txBody>
          <a:bodyPr wrap="square" lIns="0" tIns="0" rIns="0" bIns="0" rtlCol="0" anchor="ctr"/>
          <a:lstStyle/>
          <a:p>
            <a:pPr algn="ctr" indent="0" marL="0">
              <a:buNone/>
            </a:pPr>
            <a:r>
              <a:rPr lang="en-US" sz="1080" dirty="0">
                <a:solidFill>
                  <a:srgbClr val="5B7184"/>
                </a:solidFill>
                <a:latin typeface="Calibri" pitchFamily="34" charset="0"/>
                <a:ea typeface="Calibri" pitchFamily="34" charset="-122"/>
                <a:cs typeface="Calibri" pitchFamily="34" charset="-120"/>
              </a:rPr>
              <a:t>Monte Carlo hotspot forecasting</a:t>
            </a:r>
            <a:endParaRPr lang="en-US" sz="1080" dirty="0"/>
          </a:p>
        </p:txBody>
      </p:sp>
      <p:sp>
        <p:nvSpPr>
          <p:cNvPr id="20" name="Text 15"/>
          <p:cNvSpPr/>
          <p:nvPr/>
        </p:nvSpPr>
        <p:spPr>
          <a:xfrm>
            <a:off x="7109460" y="2788920"/>
            <a:ext cx="240030" cy="54864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21" name="Shape 16"/>
          <p:cNvSpPr/>
          <p:nvPr/>
        </p:nvSpPr>
        <p:spPr>
          <a:xfrm>
            <a:off x="7349490" y="2194560"/>
            <a:ext cx="2057400" cy="1965960"/>
          </a:xfrm>
          <a:prstGeom prst="roundRect">
            <a:avLst>
              <a:gd name="adj" fmla="val 4186"/>
            </a:avLst>
          </a:prstGeom>
          <a:solidFill>
            <a:srgbClr val="F4F8FA"/>
          </a:solidFill>
          <a:ln w="12700">
            <a:solidFill>
              <a:srgbClr val="DCE6EA"/>
            </a:solidFill>
            <a:prstDash val="solid"/>
          </a:ln>
        </p:spPr>
      </p:sp>
      <p:pic>
        <p:nvPicPr>
          <p:cNvPr id="22" name="Image 3" descr="/home/claude/pptx_project/icons/calendar.png">    </p:cNvPr>
          <p:cNvPicPr>
            <a:picLocks noChangeAspect="1"/>
          </p:cNvPicPr>
          <p:nvPr/>
        </p:nvPicPr>
        <p:blipFill>
          <a:blip r:embed="rId4"/>
          <a:stretch>
            <a:fillRect/>
          </a:stretch>
        </p:blipFill>
        <p:spPr>
          <a:xfrm>
            <a:off x="7989570" y="2423160"/>
            <a:ext cx="777240" cy="777240"/>
          </a:xfrm>
          <a:prstGeom prst="rect">
            <a:avLst/>
          </a:prstGeom>
        </p:spPr>
      </p:pic>
      <p:sp>
        <p:nvSpPr>
          <p:cNvPr id="23" name="Text 17"/>
          <p:cNvSpPr/>
          <p:nvPr/>
        </p:nvSpPr>
        <p:spPr>
          <a:xfrm>
            <a:off x="7440930" y="3291840"/>
            <a:ext cx="1874520" cy="320040"/>
          </a:xfrm>
          <a:prstGeom prst="rect">
            <a:avLst/>
          </a:prstGeom>
          <a:noFill/>
          <a:ln/>
        </p:spPr>
        <p:txBody>
          <a:bodyPr wrap="square" lIns="0" tIns="0" rIns="0" bIns="0" rtlCol="0" anchor="ctr"/>
          <a:lstStyle/>
          <a:p>
            <a:pPr algn="ctr" indent="0" marL="0">
              <a:buNone/>
            </a:pPr>
            <a:r>
              <a:rPr lang="en-US" sz="1400" b="1" dirty="0">
                <a:solidFill>
                  <a:srgbClr val="065A82"/>
                </a:solidFill>
                <a:latin typeface="Calibri" pitchFamily="34" charset="0"/>
                <a:ea typeface="Calibri" pitchFamily="34" charset="-122"/>
                <a:cs typeface="Calibri" pitchFamily="34" charset="-120"/>
              </a:rPr>
              <a:t>4. Plan</a:t>
            </a:r>
            <a:endParaRPr lang="en-US" sz="1400" dirty="0"/>
          </a:p>
        </p:txBody>
      </p:sp>
      <p:sp>
        <p:nvSpPr>
          <p:cNvPr id="24" name="Text 18"/>
          <p:cNvSpPr/>
          <p:nvPr/>
        </p:nvSpPr>
        <p:spPr>
          <a:xfrm>
            <a:off x="7459218" y="3611880"/>
            <a:ext cx="1837944" cy="502920"/>
          </a:xfrm>
          <a:prstGeom prst="rect">
            <a:avLst/>
          </a:prstGeom>
          <a:noFill/>
          <a:ln/>
        </p:spPr>
        <p:txBody>
          <a:bodyPr wrap="square" lIns="0" tIns="0" rIns="0" bIns="0" rtlCol="0" anchor="ctr"/>
          <a:lstStyle/>
          <a:p>
            <a:pPr algn="ctr" indent="0" marL="0">
              <a:buNone/>
            </a:pPr>
            <a:r>
              <a:rPr lang="en-US" sz="1080" dirty="0">
                <a:solidFill>
                  <a:srgbClr val="5B7184"/>
                </a:solidFill>
                <a:latin typeface="Calibri" pitchFamily="34" charset="0"/>
                <a:ea typeface="Calibri" pitchFamily="34" charset="-122"/>
                <a:cs typeface="Calibri" pitchFamily="34" charset="-120"/>
              </a:rPr>
              <a:t>72-hour automated shift planning</a:t>
            </a:r>
            <a:endParaRPr lang="en-US" sz="1080" dirty="0"/>
          </a:p>
        </p:txBody>
      </p:sp>
      <p:sp>
        <p:nvSpPr>
          <p:cNvPr id="25" name="Text 19"/>
          <p:cNvSpPr/>
          <p:nvPr/>
        </p:nvSpPr>
        <p:spPr>
          <a:xfrm>
            <a:off x="9406890" y="2788920"/>
            <a:ext cx="240030" cy="54864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26" name="Shape 20"/>
          <p:cNvSpPr/>
          <p:nvPr/>
        </p:nvSpPr>
        <p:spPr>
          <a:xfrm>
            <a:off x="9646920" y="2194560"/>
            <a:ext cx="2057400" cy="1965960"/>
          </a:xfrm>
          <a:prstGeom prst="roundRect">
            <a:avLst>
              <a:gd name="adj" fmla="val 4186"/>
            </a:avLst>
          </a:prstGeom>
          <a:solidFill>
            <a:srgbClr val="F4F8FA"/>
          </a:solidFill>
          <a:ln w="12700">
            <a:solidFill>
              <a:srgbClr val="DCE6EA"/>
            </a:solidFill>
            <a:prstDash val="solid"/>
          </a:ln>
        </p:spPr>
      </p:sp>
      <p:pic>
        <p:nvPicPr>
          <p:cNvPr id="27" name="Image 4" descr="/home/claude/pptx_project/icons/clipboard.png">    </p:cNvPr>
          <p:cNvPicPr>
            <a:picLocks noChangeAspect="1"/>
          </p:cNvPicPr>
          <p:nvPr/>
        </p:nvPicPr>
        <p:blipFill>
          <a:blip r:embed="rId5"/>
          <a:stretch>
            <a:fillRect/>
          </a:stretch>
        </p:blipFill>
        <p:spPr>
          <a:xfrm>
            <a:off x="10287000" y="2423160"/>
            <a:ext cx="777240" cy="777240"/>
          </a:xfrm>
          <a:prstGeom prst="rect">
            <a:avLst/>
          </a:prstGeom>
        </p:spPr>
      </p:pic>
      <p:sp>
        <p:nvSpPr>
          <p:cNvPr id="28" name="Text 21"/>
          <p:cNvSpPr/>
          <p:nvPr/>
        </p:nvSpPr>
        <p:spPr>
          <a:xfrm>
            <a:off x="9738360" y="3291840"/>
            <a:ext cx="1874520" cy="320040"/>
          </a:xfrm>
          <a:prstGeom prst="rect">
            <a:avLst/>
          </a:prstGeom>
          <a:noFill/>
          <a:ln/>
        </p:spPr>
        <p:txBody>
          <a:bodyPr wrap="square" lIns="0" tIns="0" rIns="0" bIns="0" rtlCol="0" anchor="ctr"/>
          <a:lstStyle/>
          <a:p>
            <a:pPr algn="ctr" indent="0" marL="0">
              <a:buNone/>
            </a:pPr>
            <a:r>
              <a:rPr lang="en-US" sz="1400" b="1" dirty="0">
                <a:solidFill>
                  <a:srgbClr val="065A82"/>
                </a:solidFill>
                <a:latin typeface="Calibri" pitchFamily="34" charset="0"/>
                <a:ea typeface="Calibri" pitchFamily="34" charset="-122"/>
                <a:cs typeface="Calibri" pitchFamily="34" charset="-120"/>
              </a:rPr>
              <a:t>5. Report</a:t>
            </a:r>
            <a:endParaRPr lang="en-US" sz="1400" dirty="0"/>
          </a:p>
        </p:txBody>
      </p:sp>
      <p:sp>
        <p:nvSpPr>
          <p:cNvPr id="29" name="Text 22"/>
          <p:cNvSpPr/>
          <p:nvPr/>
        </p:nvSpPr>
        <p:spPr>
          <a:xfrm>
            <a:off x="9756648" y="3611880"/>
            <a:ext cx="1837944" cy="502920"/>
          </a:xfrm>
          <a:prstGeom prst="rect">
            <a:avLst/>
          </a:prstGeom>
          <a:noFill/>
          <a:ln/>
        </p:spPr>
        <p:txBody>
          <a:bodyPr wrap="square" lIns="0" tIns="0" rIns="0" bIns="0" rtlCol="0" anchor="ctr"/>
          <a:lstStyle/>
          <a:p>
            <a:pPr algn="ctr" indent="0" marL="0">
              <a:buNone/>
            </a:pPr>
            <a:r>
              <a:rPr lang="en-US" sz="1080" dirty="0">
                <a:solidFill>
                  <a:srgbClr val="5B7184"/>
                </a:solidFill>
                <a:latin typeface="Calibri" pitchFamily="34" charset="0"/>
                <a:ea typeface="Calibri" pitchFamily="34" charset="-122"/>
                <a:cs typeface="Calibri" pitchFamily="34" charset="-120"/>
              </a:rPr>
              <a:t>One-click PDF operations report</a:t>
            </a:r>
            <a:endParaRPr lang="en-US" sz="1080" dirty="0"/>
          </a:p>
        </p:txBody>
      </p:sp>
      <p:sp>
        <p:nvSpPr>
          <p:cNvPr id="30" name="Shape 23"/>
          <p:cNvSpPr/>
          <p:nvPr/>
        </p:nvSpPr>
        <p:spPr>
          <a:xfrm>
            <a:off x="457200" y="4480560"/>
            <a:ext cx="11247120" cy="1600200"/>
          </a:xfrm>
          <a:prstGeom prst="roundRect">
            <a:avLst>
              <a:gd name="adj" fmla="val 5714"/>
            </a:avLst>
          </a:prstGeom>
          <a:solidFill>
            <a:srgbClr val="21295C"/>
          </a:solidFill>
          <a:ln/>
        </p:spPr>
      </p:sp>
      <p:sp>
        <p:nvSpPr>
          <p:cNvPr id="31" name="Text 24"/>
          <p:cNvSpPr/>
          <p:nvPr/>
        </p:nvSpPr>
        <p:spPr>
          <a:xfrm>
            <a:off x="822960" y="4681728"/>
            <a:ext cx="2743200" cy="320040"/>
          </a:xfrm>
          <a:prstGeom prst="rect">
            <a:avLst/>
          </a:prstGeom>
          <a:noFill/>
          <a:ln/>
        </p:spPr>
        <p:txBody>
          <a:bodyPr wrap="square" lIns="0" tIns="0" rIns="0" bIns="0"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2" name="Text 25"/>
          <p:cNvSpPr/>
          <p:nvPr/>
        </p:nvSpPr>
        <p:spPr>
          <a:xfrm>
            <a:off x="822960" y="5010912"/>
            <a:ext cx="6035040" cy="8229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Live vessel map + real-time simulation controls, streamed over WebSocket.</a:t>
            </a:r>
            <a:endParaRPr lang="en-US" sz="1500" dirty="0"/>
          </a:p>
        </p:txBody>
      </p:sp>
      <p:sp>
        <p:nvSpPr>
          <p:cNvPr id="33" name="Shape 26"/>
          <p:cNvSpPr/>
          <p:nvPr/>
        </p:nvSpPr>
        <p:spPr>
          <a:xfrm>
            <a:off x="8138160" y="5074920"/>
            <a:ext cx="3200400" cy="594360"/>
          </a:xfrm>
          <a:prstGeom prst="roundRect">
            <a:avLst>
              <a:gd name="adj" fmla="val 50769"/>
            </a:avLst>
          </a:prstGeom>
          <a:solidFill>
            <a:srgbClr val="02C39A"/>
          </a:solidFill>
          <a:ln/>
        </p:spPr>
      </p:sp>
      <p:sp>
        <p:nvSpPr>
          <p:cNvPr id="34" name="Text 27"/>
          <p:cNvSpPr/>
          <p:nvPr/>
        </p:nvSpPr>
        <p:spPr>
          <a:xfrm>
            <a:off x="8138160" y="5074920"/>
            <a:ext cx="3200400" cy="59436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port-congestion-optimiser-theta.vercel.app</a:t>
            </a:r>
            <a:endParaRPr lang="en-US" sz="1050" dirty="0"/>
          </a:p>
        </p:txBody>
      </p:sp>
      <p:sp>
        <p:nvSpPr>
          <p:cNvPr id="35" name="Text 2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1050" dirty="0">
                <a:solidFill>
                  <a:srgbClr val="5B7184"/>
                </a:solidFill>
                <a:latin typeface="Calibri" pitchFamily="34" charset="0"/>
                <a:ea typeface="Calibri" pitchFamily="34" charset="-122"/>
                <a:cs typeface="Calibri" pitchFamily="34" charset="-120"/>
              </a:rPr>
              <a:t>Solution Overview</a:t>
            </a:r>
            <a:endParaRPr lang="en-US" sz="1050" dirty="0"/>
          </a:p>
        </p:txBody>
      </p:sp>
      <p:sp>
        <p:nvSpPr>
          <p:cNvPr id="36" name="Text 29"/>
          <p:cNvSpPr/>
          <p:nvPr/>
        </p:nvSpPr>
        <p:spPr>
          <a:xfrm>
            <a:off x="8076895" y="6473952"/>
            <a:ext cx="3657600" cy="274320"/>
          </a:xfrm>
          <a:prstGeom prst="rect">
            <a:avLst/>
          </a:prstGeom>
          <a:noFill/>
          <a:ln/>
        </p:spPr>
        <p:txBody>
          <a:bodyPr wrap="square" lIns="0" tIns="0" rIns="0" bIns="0" rtlCol="0" anchor="ctr"/>
          <a:lstStyle/>
          <a:p>
            <a:pPr algn="r" indent="0" marL="0">
              <a:buNone/>
            </a:pPr>
            <a:r>
              <a:rPr lang="en-US" sz="1050" dirty="0">
                <a:solidFill>
                  <a:srgbClr val="5B7184"/>
                </a:solidFill>
                <a:latin typeface="Calibri" pitchFamily="34" charset="0"/>
                <a:ea typeface="Calibri" pitchFamily="34" charset="-122"/>
                <a:cs typeface="Calibri" pitchFamily="34" charset="-120"/>
              </a:rPr>
              <a:t>Infinite Loop  ·  03 / 08</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411480"/>
            <a:ext cx="2377440" cy="365760"/>
          </a:xfrm>
          <a:prstGeom prst="roundRect">
            <a:avLst>
              <a:gd name="adj" fmla="val 50000"/>
            </a:avLst>
          </a:prstGeom>
          <a:solidFill>
            <a:srgbClr val="065A82"/>
          </a:solidFill>
          <a:ln/>
        </p:spPr>
      </p:sp>
      <p:sp>
        <p:nvSpPr>
          <p:cNvPr id="3" name="Text 1"/>
          <p:cNvSpPr/>
          <p:nvPr/>
        </p:nvSpPr>
        <p:spPr>
          <a:xfrm>
            <a:off x="457200" y="411480"/>
            <a:ext cx="23774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4" name="Text 2"/>
          <p:cNvSpPr/>
          <p:nvPr/>
        </p:nvSpPr>
        <p:spPr>
          <a:xfrm>
            <a:off x="457200" y="914400"/>
            <a:ext cx="10515600" cy="640080"/>
          </a:xfrm>
          <a:prstGeom prst="rect">
            <a:avLst/>
          </a:prstGeom>
          <a:noFill/>
          <a:ln/>
        </p:spPr>
        <p:txBody>
          <a:bodyPr wrap="square" lIns="0" tIns="0" rIns="0" bIns="0" rtlCol="0" anchor="ctr"/>
          <a:lstStyle/>
          <a:p>
            <a:pPr indent="0" marL="0">
              <a:buNone/>
            </a:pPr>
            <a:r>
              <a:rPr lang="en-US" sz="3000" b="1" dirty="0">
                <a:solidFill>
                  <a:srgbClr val="0B2436"/>
                </a:solidFill>
                <a:latin typeface="Cambria" pitchFamily="34" charset="0"/>
                <a:ea typeface="Cambria" pitchFamily="34" charset="-122"/>
                <a:cs typeface="Cambria" pitchFamily="34" charset="-120"/>
              </a:rPr>
              <a:t>System Architecture &amp; Data Flow</a:t>
            </a:r>
            <a:endParaRPr lang="en-US" sz="3000" dirty="0"/>
          </a:p>
        </p:txBody>
      </p:sp>
      <p:sp>
        <p:nvSpPr>
          <p:cNvPr id="5" name="Shape 3"/>
          <p:cNvSpPr/>
          <p:nvPr/>
        </p:nvSpPr>
        <p:spPr>
          <a:xfrm>
            <a:off x="518008" y="1874520"/>
            <a:ext cx="3200400" cy="1965960"/>
          </a:xfrm>
          <a:prstGeom prst="roundRect">
            <a:avLst>
              <a:gd name="adj" fmla="val 4651"/>
            </a:avLst>
          </a:prstGeom>
          <a:solidFill>
            <a:srgbClr val="F4F8FA"/>
          </a:solidFill>
          <a:ln w="12700">
            <a:solidFill>
              <a:srgbClr val="DCE6EA"/>
            </a:solidFill>
            <a:prstDash val="solid"/>
          </a:ln>
        </p:spPr>
      </p:sp>
      <p:pic>
        <p:nvPicPr>
          <p:cNvPr id="6" name="Image 0" descr="/home/claude/pptx_project/icons/monitor.png">    </p:cNvPr>
          <p:cNvPicPr>
            <a:picLocks noChangeAspect="1"/>
          </p:cNvPicPr>
          <p:nvPr/>
        </p:nvPicPr>
        <p:blipFill>
          <a:blip r:embed="rId1"/>
          <a:stretch>
            <a:fillRect/>
          </a:stretch>
        </p:blipFill>
        <p:spPr>
          <a:xfrm>
            <a:off x="1729588" y="2103120"/>
            <a:ext cx="777240" cy="777240"/>
          </a:xfrm>
          <a:prstGeom prst="rect">
            <a:avLst/>
          </a:prstGeom>
        </p:spPr>
      </p:pic>
      <p:sp>
        <p:nvSpPr>
          <p:cNvPr id="7" name="Text 4"/>
          <p:cNvSpPr/>
          <p:nvPr/>
        </p:nvSpPr>
        <p:spPr>
          <a:xfrm>
            <a:off x="609448" y="2971800"/>
            <a:ext cx="3017520" cy="320040"/>
          </a:xfrm>
          <a:prstGeom prst="rect">
            <a:avLst/>
          </a:prstGeom>
          <a:noFill/>
          <a:ln/>
        </p:spPr>
        <p:txBody>
          <a:bodyPr wrap="square" lIns="0" tIns="0" rIns="0" bIns="0" rtlCol="0" anchor="ctr"/>
          <a:lstStyle/>
          <a:p>
            <a:pPr algn="ctr" indent="0" marL="0">
              <a:buNone/>
            </a:pPr>
            <a:r>
              <a:rPr lang="en-US" sz="1600" b="1" dirty="0">
                <a:solidFill>
                  <a:srgbClr val="0B2436"/>
                </a:solidFill>
                <a:latin typeface="Calibri" pitchFamily="34" charset="0"/>
                <a:ea typeface="Calibri" pitchFamily="34" charset="-122"/>
                <a:cs typeface="Calibri" pitchFamily="34" charset="-120"/>
              </a:rPr>
              <a:t>Frontend</a:t>
            </a:r>
            <a:endParaRPr lang="en-US" sz="1600" dirty="0"/>
          </a:p>
        </p:txBody>
      </p:sp>
      <p:sp>
        <p:nvSpPr>
          <p:cNvPr id="8" name="Text 5"/>
          <p:cNvSpPr/>
          <p:nvPr/>
        </p:nvSpPr>
        <p:spPr>
          <a:xfrm>
            <a:off x="655168" y="3319272"/>
            <a:ext cx="2926080" cy="457200"/>
          </a:xfrm>
          <a:prstGeom prst="rect">
            <a:avLst/>
          </a:prstGeom>
          <a:noFill/>
          <a:ln/>
        </p:spPr>
        <p:txBody>
          <a:bodyPr wrap="square" lIns="0" tIns="0" rIns="0" bIns="0" rtlCol="0" anchor="ctr"/>
          <a:lstStyle/>
          <a:p>
            <a:pPr algn="ctr" indent="0" marL="0">
              <a:buNone/>
            </a:pPr>
            <a:r>
              <a:rPr lang="en-US" sz="1150" dirty="0">
                <a:solidFill>
                  <a:srgbClr val="5B7184"/>
                </a:solidFill>
                <a:latin typeface="Calibri" pitchFamily="34" charset="0"/>
                <a:ea typeface="Calibri" pitchFamily="34" charset="-122"/>
                <a:cs typeface="Calibri" pitchFamily="34" charset="-120"/>
              </a:rPr>
              <a:t>React + Vite</a:t>
            </a:r>
            <a:endParaRPr lang="en-US" sz="1150" dirty="0"/>
          </a:p>
          <a:p>
            <a:pPr algn="ctr" indent="0" marL="0">
              <a:buNone/>
            </a:pPr>
            <a:r>
              <a:rPr lang="en-US" sz="1150" dirty="0">
                <a:solidFill>
                  <a:srgbClr val="5B7184"/>
                </a:solidFill>
                <a:latin typeface="Calibri" pitchFamily="34" charset="0"/>
                <a:ea typeface="Calibri" pitchFamily="34" charset="-122"/>
                <a:cs typeface="Calibri" pitchFamily="34" charset="-120"/>
              </a:rPr>
              <a:t>MapLibre GL</a:t>
            </a:r>
            <a:endParaRPr lang="en-US" sz="1150" dirty="0"/>
          </a:p>
        </p:txBody>
      </p:sp>
      <p:sp>
        <p:nvSpPr>
          <p:cNvPr id="9" name="Text 6"/>
          <p:cNvSpPr/>
          <p:nvPr/>
        </p:nvSpPr>
        <p:spPr>
          <a:xfrm>
            <a:off x="3718408" y="2560320"/>
            <a:ext cx="777240" cy="45720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4495648" y="1874520"/>
            <a:ext cx="3200400" cy="1965960"/>
          </a:xfrm>
          <a:prstGeom prst="roundRect">
            <a:avLst>
              <a:gd name="adj" fmla="val 4651"/>
            </a:avLst>
          </a:prstGeom>
          <a:solidFill>
            <a:srgbClr val="065A82"/>
          </a:solidFill>
          <a:ln w="12700">
            <a:solidFill>
              <a:srgbClr val="065A82"/>
            </a:solidFill>
            <a:prstDash val="solid"/>
          </a:ln>
        </p:spPr>
      </p:sp>
      <p:pic>
        <p:nvPicPr>
          <p:cNvPr id="11" name="Image 1" descr="/home/claude/pptx_project/icons/server.png">    </p:cNvPr>
          <p:cNvPicPr>
            <a:picLocks noChangeAspect="1"/>
          </p:cNvPicPr>
          <p:nvPr/>
        </p:nvPicPr>
        <p:blipFill>
          <a:blip r:embed="rId2"/>
          <a:stretch>
            <a:fillRect/>
          </a:stretch>
        </p:blipFill>
        <p:spPr>
          <a:xfrm>
            <a:off x="5707228" y="2103120"/>
            <a:ext cx="777240" cy="777240"/>
          </a:xfrm>
          <a:prstGeom prst="rect">
            <a:avLst/>
          </a:prstGeom>
        </p:spPr>
      </p:pic>
      <p:sp>
        <p:nvSpPr>
          <p:cNvPr id="12" name="Text 8"/>
          <p:cNvSpPr/>
          <p:nvPr/>
        </p:nvSpPr>
        <p:spPr>
          <a:xfrm>
            <a:off x="4587088" y="2971800"/>
            <a:ext cx="30175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Backend</a:t>
            </a:r>
            <a:endParaRPr lang="en-US" sz="1600" dirty="0"/>
          </a:p>
        </p:txBody>
      </p:sp>
      <p:sp>
        <p:nvSpPr>
          <p:cNvPr id="13" name="Text 9"/>
          <p:cNvSpPr/>
          <p:nvPr/>
        </p:nvSpPr>
        <p:spPr>
          <a:xfrm>
            <a:off x="4632808" y="3319272"/>
            <a:ext cx="2926080" cy="45720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FastAPI</a:t>
            </a:r>
            <a:endParaRPr lang="en-US" sz="1150" dirty="0"/>
          </a:p>
          <a:p>
            <a:pPr algn="ctr" indent="0" marL="0">
              <a:buNone/>
            </a:pPr>
            <a:r>
              <a:rPr lang="en-US" sz="1150" dirty="0">
                <a:solidFill>
                  <a:srgbClr val="CADCFC"/>
                </a:solidFill>
                <a:latin typeface="Calibri" pitchFamily="34" charset="0"/>
                <a:ea typeface="Calibri" pitchFamily="34" charset="-122"/>
                <a:cs typeface="Calibri" pitchFamily="34" charset="-120"/>
              </a:rPr>
              <a:t>REST API + WebSockets</a:t>
            </a:r>
            <a:endParaRPr lang="en-US" sz="1150" dirty="0"/>
          </a:p>
        </p:txBody>
      </p:sp>
      <p:sp>
        <p:nvSpPr>
          <p:cNvPr id="14" name="Text 10"/>
          <p:cNvSpPr/>
          <p:nvPr/>
        </p:nvSpPr>
        <p:spPr>
          <a:xfrm>
            <a:off x="7696048" y="2560320"/>
            <a:ext cx="777240" cy="45720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5" name="Shape 11"/>
          <p:cNvSpPr/>
          <p:nvPr/>
        </p:nvSpPr>
        <p:spPr>
          <a:xfrm>
            <a:off x="8473288" y="1874520"/>
            <a:ext cx="3200400" cy="1965960"/>
          </a:xfrm>
          <a:prstGeom prst="roundRect">
            <a:avLst>
              <a:gd name="adj" fmla="val 4651"/>
            </a:avLst>
          </a:prstGeom>
          <a:solidFill>
            <a:srgbClr val="F4F8FA"/>
          </a:solidFill>
          <a:ln w="12700">
            <a:solidFill>
              <a:srgbClr val="DCE6EA"/>
            </a:solidFill>
            <a:prstDash val="solid"/>
          </a:ln>
        </p:spPr>
      </p:sp>
      <p:pic>
        <p:nvPicPr>
          <p:cNvPr id="16" name="Image 2" descr="/home/claude/pptx_project/icons/cpu.png">    </p:cNvPr>
          <p:cNvPicPr>
            <a:picLocks noChangeAspect="1"/>
          </p:cNvPicPr>
          <p:nvPr/>
        </p:nvPicPr>
        <p:blipFill>
          <a:blip r:embed="rId3"/>
          <a:stretch>
            <a:fillRect/>
          </a:stretch>
        </p:blipFill>
        <p:spPr>
          <a:xfrm>
            <a:off x="9684868" y="2103120"/>
            <a:ext cx="777240" cy="777240"/>
          </a:xfrm>
          <a:prstGeom prst="rect">
            <a:avLst/>
          </a:prstGeom>
        </p:spPr>
      </p:pic>
      <p:sp>
        <p:nvSpPr>
          <p:cNvPr id="17" name="Text 12"/>
          <p:cNvSpPr/>
          <p:nvPr/>
        </p:nvSpPr>
        <p:spPr>
          <a:xfrm>
            <a:off x="8564728" y="2971800"/>
            <a:ext cx="3017520" cy="320040"/>
          </a:xfrm>
          <a:prstGeom prst="rect">
            <a:avLst/>
          </a:prstGeom>
          <a:noFill/>
          <a:ln/>
        </p:spPr>
        <p:txBody>
          <a:bodyPr wrap="square" lIns="0" tIns="0" rIns="0" bIns="0" rtlCol="0" anchor="ctr"/>
          <a:lstStyle/>
          <a:p>
            <a:pPr algn="ctr" indent="0" marL="0">
              <a:buNone/>
            </a:pPr>
            <a:r>
              <a:rPr lang="en-US" sz="1600" b="1" dirty="0">
                <a:solidFill>
                  <a:srgbClr val="0B2436"/>
                </a:solidFill>
                <a:latin typeface="Calibri" pitchFamily="34" charset="0"/>
                <a:ea typeface="Calibri" pitchFamily="34" charset="-122"/>
                <a:cs typeface="Calibri" pitchFamily="34" charset="-120"/>
              </a:rPr>
              <a:t>Analytics Engine</a:t>
            </a:r>
            <a:endParaRPr lang="en-US" sz="1600" dirty="0"/>
          </a:p>
        </p:txBody>
      </p:sp>
      <p:sp>
        <p:nvSpPr>
          <p:cNvPr id="18" name="Text 13"/>
          <p:cNvSpPr/>
          <p:nvPr/>
        </p:nvSpPr>
        <p:spPr>
          <a:xfrm>
            <a:off x="8610448" y="3319272"/>
            <a:ext cx="2926080" cy="457200"/>
          </a:xfrm>
          <a:prstGeom prst="rect">
            <a:avLst/>
          </a:prstGeom>
          <a:noFill/>
          <a:ln/>
        </p:spPr>
        <p:txBody>
          <a:bodyPr wrap="square" lIns="0" tIns="0" rIns="0" bIns="0" rtlCol="0" anchor="ctr"/>
          <a:lstStyle/>
          <a:p>
            <a:pPr algn="ctr" indent="0" marL="0">
              <a:buNone/>
            </a:pPr>
            <a:r>
              <a:rPr lang="en-US" sz="1150" dirty="0">
                <a:solidFill>
                  <a:srgbClr val="5B7184"/>
                </a:solidFill>
                <a:latin typeface="Calibri" pitchFamily="34" charset="0"/>
                <a:ea typeface="Calibri" pitchFamily="34" charset="-122"/>
                <a:cs typeface="Calibri" pitchFamily="34" charset="-120"/>
              </a:rPr>
              <a:t>CP-SAT Solver</a:t>
            </a:r>
            <a:endParaRPr lang="en-US" sz="1150" dirty="0"/>
          </a:p>
          <a:p>
            <a:pPr algn="ctr" indent="0" marL="0">
              <a:buNone/>
            </a:pPr>
            <a:r>
              <a:rPr lang="en-US" sz="1150" dirty="0">
                <a:solidFill>
                  <a:srgbClr val="5B7184"/>
                </a:solidFill>
                <a:latin typeface="Calibri" pitchFamily="34" charset="0"/>
                <a:ea typeface="Calibri" pitchFamily="34" charset="-122"/>
                <a:cs typeface="Calibri" pitchFamily="34" charset="-120"/>
              </a:rPr>
              <a:t>SimPy DES · Monte Carlo</a:t>
            </a:r>
            <a:endParaRPr lang="en-US" sz="1150" dirty="0"/>
          </a:p>
        </p:txBody>
      </p:sp>
      <p:sp>
        <p:nvSpPr>
          <p:cNvPr id="19" name="Text 14"/>
          <p:cNvSpPr/>
          <p:nvPr/>
        </p:nvSpPr>
        <p:spPr>
          <a:xfrm>
            <a:off x="518008" y="4160520"/>
            <a:ext cx="3657600" cy="274320"/>
          </a:xfrm>
          <a:prstGeom prst="rect">
            <a:avLst/>
          </a:prstGeom>
          <a:noFill/>
          <a:ln/>
        </p:spPr>
        <p:txBody>
          <a:bodyPr wrap="square" lIns="0" tIns="0" rIns="0" bIns="0" rtlCol="0" anchor="ctr"/>
          <a:lstStyle/>
          <a:p>
            <a:pPr indent="0" marL="0">
              <a:buNone/>
            </a:pPr>
            <a:r>
              <a:rPr lang="en-US" sz="1200" b="1" spc="150" kern="0" dirty="0">
                <a:solidFill>
                  <a:srgbClr val="5B7184"/>
                </a:solidFill>
                <a:latin typeface="Calibri" pitchFamily="34" charset="0"/>
                <a:ea typeface="Calibri" pitchFamily="34" charset="-122"/>
                <a:cs typeface="Calibri" pitchFamily="34" charset="-120"/>
              </a:rPr>
              <a:t>DATA FLOW</a:t>
            </a:r>
            <a:endParaRPr lang="en-US" sz="1200" dirty="0"/>
          </a:p>
        </p:txBody>
      </p:sp>
      <p:sp>
        <p:nvSpPr>
          <p:cNvPr id="20" name="Shape 15"/>
          <p:cNvSpPr/>
          <p:nvPr/>
        </p:nvSpPr>
        <p:spPr>
          <a:xfrm>
            <a:off x="518008" y="4480560"/>
            <a:ext cx="2331720" cy="1005840"/>
          </a:xfrm>
          <a:prstGeom prst="roundRect">
            <a:avLst>
              <a:gd name="adj" fmla="val 50000"/>
            </a:avLst>
          </a:prstGeom>
          <a:solidFill>
            <a:srgbClr val="1C7293"/>
          </a:solidFill>
          <a:ln/>
        </p:spPr>
      </p:sp>
      <p:sp>
        <p:nvSpPr>
          <p:cNvPr id="21" name="Text 16"/>
          <p:cNvSpPr/>
          <p:nvPr/>
        </p:nvSpPr>
        <p:spPr>
          <a:xfrm>
            <a:off x="609448" y="4480560"/>
            <a:ext cx="2148840"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Parameter Input</a:t>
            </a:r>
            <a:endParaRPr lang="en-US" sz="1200" dirty="0"/>
          </a:p>
        </p:txBody>
      </p:sp>
      <p:sp>
        <p:nvSpPr>
          <p:cNvPr id="22" name="Text 17"/>
          <p:cNvSpPr/>
          <p:nvPr/>
        </p:nvSpPr>
        <p:spPr>
          <a:xfrm>
            <a:off x="2849728" y="4709160"/>
            <a:ext cx="609600" cy="548640"/>
          </a:xfrm>
          <a:prstGeom prst="rect">
            <a:avLst/>
          </a:prstGeom>
          <a:noFill/>
          <a:ln/>
        </p:spPr>
        <p:txBody>
          <a:bodyPr wrap="square" lIns="0" tIns="0" rIns="0" bIns="0" rtlCol="0" anchor="ctr"/>
          <a:lstStyle/>
          <a:p>
            <a:pPr algn="ctr" indent="0" marL="0">
              <a:buNone/>
            </a:pPr>
            <a:r>
              <a:rPr lang="en-US" sz="2000" b="1" dirty="0">
                <a:solidFill>
                  <a:srgbClr val="5B7184"/>
                </a:solidFill>
                <a:latin typeface="Calibri" pitchFamily="34" charset="0"/>
                <a:ea typeface="Calibri" pitchFamily="34" charset="-122"/>
                <a:cs typeface="Calibri" pitchFamily="34" charset="-120"/>
              </a:rPr>
              <a:t>→</a:t>
            </a:r>
            <a:endParaRPr lang="en-US" sz="2000" dirty="0"/>
          </a:p>
        </p:txBody>
      </p:sp>
      <p:sp>
        <p:nvSpPr>
          <p:cNvPr id="23" name="Shape 18"/>
          <p:cNvSpPr/>
          <p:nvPr/>
        </p:nvSpPr>
        <p:spPr>
          <a:xfrm>
            <a:off x="3459328" y="4480560"/>
            <a:ext cx="2331720" cy="1005840"/>
          </a:xfrm>
          <a:prstGeom prst="roundRect">
            <a:avLst>
              <a:gd name="adj" fmla="val 50000"/>
            </a:avLst>
          </a:prstGeom>
          <a:solidFill>
            <a:srgbClr val="065A82"/>
          </a:solidFill>
          <a:ln/>
        </p:spPr>
      </p:sp>
      <p:sp>
        <p:nvSpPr>
          <p:cNvPr id="24" name="Text 19"/>
          <p:cNvSpPr/>
          <p:nvPr/>
        </p:nvSpPr>
        <p:spPr>
          <a:xfrm>
            <a:off x="3550768" y="4480560"/>
            <a:ext cx="2148840"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CP-SAT Berth /</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Crane Allocation</a:t>
            </a:r>
            <a:endParaRPr lang="en-US" sz="1200" dirty="0"/>
          </a:p>
        </p:txBody>
      </p:sp>
      <p:sp>
        <p:nvSpPr>
          <p:cNvPr id="25" name="Text 20"/>
          <p:cNvSpPr/>
          <p:nvPr/>
        </p:nvSpPr>
        <p:spPr>
          <a:xfrm>
            <a:off x="5791048" y="4709160"/>
            <a:ext cx="609600" cy="548640"/>
          </a:xfrm>
          <a:prstGeom prst="rect">
            <a:avLst/>
          </a:prstGeom>
          <a:noFill/>
          <a:ln/>
        </p:spPr>
        <p:txBody>
          <a:bodyPr wrap="square" lIns="0" tIns="0" rIns="0" bIns="0" rtlCol="0" anchor="ctr"/>
          <a:lstStyle/>
          <a:p>
            <a:pPr algn="ctr" indent="0" marL="0">
              <a:buNone/>
            </a:pPr>
            <a:r>
              <a:rPr lang="en-US" sz="2000" b="1" dirty="0">
                <a:solidFill>
                  <a:srgbClr val="5B7184"/>
                </a:solidFill>
                <a:latin typeface="Calibri" pitchFamily="34" charset="0"/>
                <a:ea typeface="Calibri" pitchFamily="34" charset="-122"/>
                <a:cs typeface="Calibri" pitchFamily="34" charset="-120"/>
              </a:rPr>
              <a:t>→</a:t>
            </a:r>
            <a:endParaRPr lang="en-US" sz="2000" dirty="0"/>
          </a:p>
        </p:txBody>
      </p:sp>
      <p:sp>
        <p:nvSpPr>
          <p:cNvPr id="26" name="Shape 21"/>
          <p:cNvSpPr/>
          <p:nvPr/>
        </p:nvSpPr>
        <p:spPr>
          <a:xfrm>
            <a:off x="6400648" y="4480560"/>
            <a:ext cx="2331720" cy="1005840"/>
          </a:xfrm>
          <a:prstGeom prst="roundRect">
            <a:avLst>
              <a:gd name="adj" fmla="val 50000"/>
            </a:avLst>
          </a:prstGeom>
          <a:solidFill>
            <a:srgbClr val="1C7293"/>
          </a:solidFill>
          <a:ln/>
        </p:spPr>
      </p:sp>
      <p:sp>
        <p:nvSpPr>
          <p:cNvPr id="27" name="Text 22"/>
          <p:cNvSpPr/>
          <p:nvPr/>
        </p:nvSpPr>
        <p:spPr>
          <a:xfrm>
            <a:off x="6492088" y="4480560"/>
            <a:ext cx="2148840"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Hotspot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Prediction</a:t>
            </a:r>
            <a:endParaRPr lang="en-US" sz="1200" dirty="0"/>
          </a:p>
        </p:txBody>
      </p:sp>
      <p:sp>
        <p:nvSpPr>
          <p:cNvPr id="28" name="Text 23"/>
          <p:cNvSpPr/>
          <p:nvPr/>
        </p:nvSpPr>
        <p:spPr>
          <a:xfrm>
            <a:off x="8732368" y="4709160"/>
            <a:ext cx="609600" cy="548640"/>
          </a:xfrm>
          <a:prstGeom prst="rect">
            <a:avLst/>
          </a:prstGeom>
          <a:noFill/>
          <a:ln/>
        </p:spPr>
        <p:txBody>
          <a:bodyPr wrap="square" lIns="0" tIns="0" rIns="0" bIns="0" rtlCol="0" anchor="ctr"/>
          <a:lstStyle/>
          <a:p>
            <a:pPr algn="ctr" indent="0" marL="0">
              <a:buNone/>
            </a:pPr>
            <a:r>
              <a:rPr lang="en-US" sz="2000" b="1" dirty="0">
                <a:solidFill>
                  <a:srgbClr val="5B7184"/>
                </a:solidFill>
                <a:latin typeface="Calibri" pitchFamily="34" charset="0"/>
                <a:ea typeface="Calibri" pitchFamily="34" charset="-122"/>
                <a:cs typeface="Calibri" pitchFamily="34" charset="-120"/>
              </a:rPr>
              <a:t>→</a:t>
            </a:r>
            <a:endParaRPr lang="en-US" sz="2000" dirty="0"/>
          </a:p>
        </p:txBody>
      </p:sp>
      <p:sp>
        <p:nvSpPr>
          <p:cNvPr id="29" name="Shape 24"/>
          <p:cNvSpPr/>
          <p:nvPr/>
        </p:nvSpPr>
        <p:spPr>
          <a:xfrm>
            <a:off x="9341968" y="4480560"/>
            <a:ext cx="2331720" cy="1005840"/>
          </a:xfrm>
          <a:prstGeom prst="roundRect">
            <a:avLst>
              <a:gd name="adj" fmla="val 50000"/>
            </a:avLst>
          </a:prstGeom>
          <a:solidFill>
            <a:srgbClr val="065A82"/>
          </a:solidFill>
          <a:ln/>
        </p:spPr>
      </p:sp>
      <p:sp>
        <p:nvSpPr>
          <p:cNvPr id="30" name="Text 25"/>
          <p:cNvSpPr/>
          <p:nvPr/>
        </p:nvSpPr>
        <p:spPr>
          <a:xfrm>
            <a:off x="9433408" y="4480560"/>
            <a:ext cx="2148840"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72-hr Shift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Plan Output</a:t>
            </a:r>
            <a:endParaRPr lang="en-US" sz="1200" dirty="0"/>
          </a:p>
        </p:txBody>
      </p:sp>
      <p:sp>
        <p:nvSpPr>
          <p:cNvPr id="31"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1050" dirty="0">
                <a:solidFill>
                  <a:srgbClr val="5B7184"/>
                </a:solidFill>
                <a:latin typeface="Calibri" pitchFamily="34" charset="0"/>
                <a:ea typeface="Calibri" pitchFamily="34" charset="-122"/>
                <a:cs typeface="Calibri" pitchFamily="34" charset="-120"/>
              </a:rPr>
              <a:t>Technical Architecture</a:t>
            </a:r>
            <a:endParaRPr lang="en-US" sz="1050" dirty="0"/>
          </a:p>
        </p:txBody>
      </p:sp>
      <p:sp>
        <p:nvSpPr>
          <p:cNvPr id="32" name="Text 27"/>
          <p:cNvSpPr/>
          <p:nvPr/>
        </p:nvSpPr>
        <p:spPr>
          <a:xfrm>
            <a:off x="8076895" y="6473952"/>
            <a:ext cx="3657600" cy="274320"/>
          </a:xfrm>
          <a:prstGeom prst="rect">
            <a:avLst/>
          </a:prstGeom>
          <a:noFill/>
          <a:ln/>
        </p:spPr>
        <p:txBody>
          <a:bodyPr wrap="square" lIns="0" tIns="0" rIns="0" bIns="0" rtlCol="0" anchor="ctr"/>
          <a:lstStyle/>
          <a:p>
            <a:pPr algn="r" indent="0" marL="0">
              <a:buNone/>
            </a:pPr>
            <a:r>
              <a:rPr lang="en-US" sz="1050" dirty="0">
                <a:solidFill>
                  <a:srgbClr val="5B7184"/>
                </a:solidFill>
                <a:latin typeface="Calibri" pitchFamily="34" charset="0"/>
                <a:ea typeface="Calibri" pitchFamily="34" charset="-122"/>
                <a:cs typeface="Calibri" pitchFamily="34" charset="-120"/>
              </a:rPr>
              <a:t>Infinite Loop  ·  04 / 08</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411480"/>
            <a:ext cx="2377440" cy="365760"/>
          </a:xfrm>
          <a:prstGeom prst="roundRect">
            <a:avLst>
              <a:gd name="adj" fmla="val 50000"/>
            </a:avLst>
          </a:prstGeom>
          <a:solidFill>
            <a:srgbClr val="02C39A"/>
          </a:solidFill>
          <a:ln/>
        </p:spPr>
      </p:sp>
      <p:sp>
        <p:nvSpPr>
          <p:cNvPr id="3" name="Text 1"/>
          <p:cNvSpPr/>
          <p:nvPr/>
        </p:nvSpPr>
        <p:spPr>
          <a:xfrm>
            <a:off x="457200" y="411480"/>
            <a:ext cx="23774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KEY FEATURE</a:t>
            </a:r>
            <a:endParaRPr lang="en-US" sz="1200" dirty="0"/>
          </a:p>
        </p:txBody>
      </p:sp>
      <p:sp>
        <p:nvSpPr>
          <p:cNvPr id="4" name="Text 2"/>
          <p:cNvSpPr/>
          <p:nvPr/>
        </p:nvSpPr>
        <p:spPr>
          <a:xfrm>
            <a:off x="457200" y="914400"/>
            <a:ext cx="11247120" cy="640080"/>
          </a:xfrm>
          <a:prstGeom prst="rect">
            <a:avLst/>
          </a:prstGeom>
          <a:noFill/>
          <a:ln/>
        </p:spPr>
        <p:txBody>
          <a:bodyPr wrap="square" lIns="0" tIns="0" rIns="0" bIns="0" rtlCol="0" anchor="ctr"/>
          <a:lstStyle/>
          <a:p>
            <a:pPr indent="0" marL="0">
              <a:buNone/>
            </a:pPr>
            <a:r>
              <a:rPr lang="en-US" sz="2700" b="1" dirty="0">
                <a:solidFill>
                  <a:srgbClr val="0B2436"/>
                </a:solidFill>
                <a:latin typeface="Cambria" pitchFamily="34" charset="0"/>
                <a:ea typeface="Cambria" pitchFamily="34" charset="-122"/>
                <a:cs typeface="Cambria" pitchFamily="34" charset="-120"/>
              </a:rPr>
              <a:t>CP-SAT Berth Optimization &amp; Real-Time Simulation</a:t>
            </a:r>
            <a:endParaRPr lang="en-US" sz="2700" dirty="0"/>
          </a:p>
        </p:txBody>
      </p:sp>
      <p:sp>
        <p:nvSpPr>
          <p:cNvPr id="5" name="Shape 3"/>
          <p:cNvSpPr/>
          <p:nvPr/>
        </p:nvSpPr>
        <p:spPr>
          <a:xfrm>
            <a:off x="457200" y="1691640"/>
            <a:ext cx="11247120" cy="1188720"/>
          </a:xfrm>
          <a:prstGeom prst="roundRect">
            <a:avLst>
              <a:gd name="adj" fmla="val 7692"/>
            </a:avLst>
          </a:prstGeom>
          <a:solidFill>
            <a:srgbClr val="21295C"/>
          </a:solidFill>
          <a:ln/>
        </p:spPr>
      </p:sp>
      <p:pic>
        <p:nvPicPr>
          <p:cNvPr id="6" name="Image 0" descr="/home/claude/pptx_project/icons/clock.png">    </p:cNvPr>
          <p:cNvPicPr>
            <a:picLocks noChangeAspect="1"/>
          </p:cNvPicPr>
          <p:nvPr/>
        </p:nvPicPr>
        <p:blipFill>
          <a:blip r:embed="rId1"/>
          <a:stretch>
            <a:fillRect/>
          </a:stretch>
        </p:blipFill>
        <p:spPr>
          <a:xfrm>
            <a:off x="777240" y="1874520"/>
            <a:ext cx="868680" cy="868680"/>
          </a:xfrm>
          <a:prstGeom prst="rect">
            <a:avLst/>
          </a:prstGeom>
        </p:spPr>
      </p:pic>
      <p:sp>
        <p:nvSpPr>
          <p:cNvPr id="7" name="Text 4"/>
          <p:cNvSpPr/>
          <p:nvPr/>
        </p:nvSpPr>
        <p:spPr>
          <a:xfrm>
            <a:off x="1920240" y="1828800"/>
            <a:ext cx="4572000" cy="594360"/>
          </a:xfrm>
          <a:prstGeom prst="rect">
            <a:avLst/>
          </a:prstGeom>
          <a:noFill/>
          <a:ln/>
        </p:spPr>
        <p:txBody>
          <a:bodyPr wrap="square" lIns="0" tIns="0" rIns="0" bIns="0" rtlCol="0" anchor="ctr"/>
          <a:lstStyle/>
          <a:p>
            <a:pPr indent="0" marL="0">
              <a:buNone/>
            </a:pPr>
            <a:r>
              <a:rPr lang="en-US" sz="3200" b="1" dirty="0">
                <a:solidFill>
                  <a:srgbClr val="02C39A"/>
                </a:solidFill>
                <a:latin typeface="Cambria" pitchFamily="34" charset="0"/>
                <a:ea typeface="Cambria" pitchFamily="34" charset="-122"/>
                <a:cs typeface="Cambria" pitchFamily="34" charset="-120"/>
              </a:rPr>
              <a:t>&lt; 2 SECONDS</a:t>
            </a:r>
            <a:endParaRPr lang="en-US" sz="3200" dirty="0"/>
          </a:p>
        </p:txBody>
      </p:sp>
      <p:sp>
        <p:nvSpPr>
          <p:cNvPr id="8" name="Text 5"/>
          <p:cNvSpPr/>
          <p:nvPr/>
        </p:nvSpPr>
        <p:spPr>
          <a:xfrm>
            <a:off x="1920240" y="2423160"/>
            <a:ext cx="5943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to compute the full berth + crane optimization pipeline</a:t>
            </a:r>
            <a:endParaRPr lang="en-US" sz="1350" dirty="0"/>
          </a:p>
        </p:txBody>
      </p:sp>
      <p:sp>
        <p:nvSpPr>
          <p:cNvPr id="9" name="Shape 6"/>
          <p:cNvSpPr/>
          <p:nvPr/>
        </p:nvSpPr>
        <p:spPr>
          <a:xfrm>
            <a:off x="457200" y="3200400"/>
            <a:ext cx="5440680" cy="1417320"/>
          </a:xfrm>
          <a:prstGeom prst="roundRect">
            <a:avLst>
              <a:gd name="adj" fmla="val 5161"/>
            </a:avLst>
          </a:prstGeom>
          <a:solidFill>
            <a:srgbClr val="F4F8FA"/>
          </a:solidFill>
          <a:ln w="12700">
            <a:solidFill>
              <a:srgbClr val="DCE6EA"/>
            </a:solidFill>
            <a:prstDash val="solid"/>
          </a:ln>
        </p:spPr>
      </p:sp>
      <p:pic>
        <p:nvPicPr>
          <p:cNvPr id="10" name="Image 1" descr="/home/claude/pptx_project/icons/list.png">    </p:cNvPr>
          <p:cNvPicPr>
            <a:picLocks noChangeAspect="1"/>
          </p:cNvPicPr>
          <p:nvPr/>
        </p:nvPicPr>
        <p:blipFill>
          <a:blip r:embed="rId2"/>
          <a:stretch>
            <a:fillRect/>
          </a:stretch>
        </p:blipFill>
        <p:spPr>
          <a:xfrm>
            <a:off x="685800" y="3474720"/>
            <a:ext cx="868680" cy="868680"/>
          </a:xfrm>
          <a:prstGeom prst="rect">
            <a:avLst/>
          </a:prstGeom>
        </p:spPr>
      </p:pic>
      <p:sp>
        <p:nvSpPr>
          <p:cNvPr id="11" name="Text 7"/>
          <p:cNvSpPr/>
          <p:nvPr/>
        </p:nvSpPr>
        <p:spPr>
          <a:xfrm>
            <a:off x="1737360" y="3401568"/>
            <a:ext cx="3977640" cy="365760"/>
          </a:xfrm>
          <a:prstGeom prst="rect">
            <a:avLst/>
          </a:prstGeom>
          <a:noFill/>
          <a:ln/>
        </p:spPr>
        <p:txBody>
          <a:bodyPr wrap="square" lIns="0" tIns="0" rIns="0" bIns="0" rtlCol="0" anchor="ctr"/>
          <a:lstStyle/>
          <a:p>
            <a:pPr indent="0" marL="0">
              <a:buNone/>
            </a:pPr>
            <a:r>
              <a:rPr lang="en-US" sz="1500" b="1" dirty="0">
                <a:solidFill>
                  <a:srgbClr val="0B2436"/>
                </a:solidFill>
                <a:latin typeface="Calibri" pitchFamily="34" charset="0"/>
                <a:ea typeface="Calibri" pitchFamily="34" charset="-122"/>
                <a:cs typeface="Calibri" pitchFamily="34" charset="-120"/>
              </a:rPr>
              <a:t>5 Scenario Presets</a:t>
            </a:r>
            <a:endParaRPr lang="en-US" sz="1500" dirty="0"/>
          </a:p>
        </p:txBody>
      </p:sp>
      <p:sp>
        <p:nvSpPr>
          <p:cNvPr id="12" name="Text 8"/>
          <p:cNvSpPr/>
          <p:nvPr/>
        </p:nvSpPr>
        <p:spPr>
          <a:xfrm>
            <a:off x="1737360" y="3767328"/>
            <a:ext cx="3977640" cy="777240"/>
          </a:xfrm>
          <a:prstGeom prst="rect">
            <a:avLst/>
          </a:prstGeom>
          <a:noFill/>
          <a:ln/>
        </p:spPr>
        <p:txBody>
          <a:bodyPr wrap="square" lIns="0" tIns="0" rIns="0" bIns="0" rtlCol="0" anchor="t"/>
          <a:lstStyle/>
          <a:p>
            <a:pPr indent="0" marL="0">
              <a:buNone/>
            </a:pPr>
            <a:r>
              <a:rPr lang="en-US" sz="1200" dirty="0">
                <a:solidFill>
                  <a:srgbClr val="5B7184"/>
                </a:solidFill>
                <a:latin typeface="Calibri" pitchFamily="34" charset="0"/>
                <a:ea typeface="Calibri" pitchFamily="34" charset="-122"/>
                <a:cs typeface="Calibri" pitchFamily="34" charset="-120"/>
              </a:rPr>
              <a:t>Light Traffic, Surge, Shortages &amp; more, ready to run instantly.</a:t>
            </a:r>
            <a:endParaRPr lang="en-US" sz="1200" dirty="0"/>
          </a:p>
        </p:txBody>
      </p:sp>
      <p:sp>
        <p:nvSpPr>
          <p:cNvPr id="13" name="Shape 9"/>
          <p:cNvSpPr/>
          <p:nvPr/>
        </p:nvSpPr>
        <p:spPr>
          <a:xfrm>
            <a:off x="6263640" y="3200400"/>
            <a:ext cx="5440680" cy="1417320"/>
          </a:xfrm>
          <a:prstGeom prst="roundRect">
            <a:avLst>
              <a:gd name="adj" fmla="val 5161"/>
            </a:avLst>
          </a:prstGeom>
          <a:solidFill>
            <a:srgbClr val="F4F8FA"/>
          </a:solidFill>
          <a:ln w="12700">
            <a:solidFill>
              <a:srgbClr val="DCE6EA"/>
            </a:solidFill>
            <a:prstDash val="solid"/>
          </a:ln>
        </p:spPr>
      </p:sp>
      <p:pic>
        <p:nvPicPr>
          <p:cNvPr id="14" name="Image 2" descr="/home/claude/pptx_project/icons/map.png">    </p:cNvPr>
          <p:cNvPicPr>
            <a:picLocks noChangeAspect="1"/>
          </p:cNvPicPr>
          <p:nvPr/>
        </p:nvPicPr>
        <p:blipFill>
          <a:blip r:embed="rId3"/>
          <a:stretch>
            <a:fillRect/>
          </a:stretch>
        </p:blipFill>
        <p:spPr>
          <a:xfrm>
            <a:off x="6492240" y="3474720"/>
            <a:ext cx="868680" cy="868680"/>
          </a:xfrm>
          <a:prstGeom prst="rect">
            <a:avLst/>
          </a:prstGeom>
        </p:spPr>
      </p:pic>
      <p:sp>
        <p:nvSpPr>
          <p:cNvPr id="15" name="Text 10"/>
          <p:cNvSpPr/>
          <p:nvPr/>
        </p:nvSpPr>
        <p:spPr>
          <a:xfrm>
            <a:off x="7543800" y="3401568"/>
            <a:ext cx="3977640" cy="365760"/>
          </a:xfrm>
          <a:prstGeom prst="rect">
            <a:avLst/>
          </a:prstGeom>
          <a:noFill/>
          <a:ln/>
        </p:spPr>
        <p:txBody>
          <a:bodyPr wrap="square" lIns="0" tIns="0" rIns="0" bIns="0" rtlCol="0" anchor="ctr"/>
          <a:lstStyle/>
          <a:p>
            <a:pPr indent="0" marL="0">
              <a:buNone/>
            </a:pPr>
            <a:r>
              <a:rPr lang="en-US" sz="1500" b="1" dirty="0">
                <a:solidFill>
                  <a:srgbClr val="0B2436"/>
                </a:solidFill>
                <a:latin typeface="Calibri" pitchFamily="34" charset="0"/>
                <a:ea typeface="Calibri" pitchFamily="34" charset="-122"/>
                <a:cs typeface="Calibri" pitchFamily="34" charset="-120"/>
              </a:rPr>
              <a:t>Live Vessel Map</a:t>
            </a:r>
            <a:endParaRPr lang="en-US" sz="1500" dirty="0"/>
          </a:p>
        </p:txBody>
      </p:sp>
      <p:sp>
        <p:nvSpPr>
          <p:cNvPr id="16" name="Text 11"/>
          <p:cNvSpPr/>
          <p:nvPr/>
        </p:nvSpPr>
        <p:spPr>
          <a:xfrm>
            <a:off x="7543800" y="3767328"/>
            <a:ext cx="3977640" cy="777240"/>
          </a:xfrm>
          <a:prstGeom prst="rect">
            <a:avLst/>
          </a:prstGeom>
          <a:noFill/>
          <a:ln/>
        </p:spPr>
        <p:txBody>
          <a:bodyPr wrap="square" lIns="0" tIns="0" rIns="0" bIns="0" rtlCol="0" anchor="t"/>
          <a:lstStyle/>
          <a:p>
            <a:pPr indent="0" marL="0">
              <a:buNone/>
            </a:pPr>
            <a:r>
              <a:rPr lang="en-US" sz="1200" dirty="0">
                <a:solidFill>
                  <a:srgbClr val="5B7184"/>
                </a:solidFill>
                <a:latin typeface="Calibri" pitchFamily="34" charset="0"/>
                <a:ea typeface="Calibri" pitchFamily="34" charset="-122"/>
                <a:cs typeface="Calibri" pitchFamily="34" charset="-120"/>
              </a:rPr>
              <a:t>Satellite-style tracking streamed live via WebSocket.</a:t>
            </a:r>
            <a:endParaRPr lang="en-US" sz="1200" dirty="0"/>
          </a:p>
        </p:txBody>
      </p:sp>
      <p:sp>
        <p:nvSpPr>
          <p:cNvPr id="17" name="Shape 12"/>
          <p:cNvSpPr/>
          <p:nvPr/>
        </p:nvSpPr>
        <p:spPr>
          <a:xfrm>
            <a:off x="457200" y="4937760"/>
            <a:ext cx="5440680" cy="1417320"/>
          </a:xfrm>
          <a:prstGeom prst="roundRect">
            <a:avLst>
              <a:gd name="adj" fmla="val 5161"/>
            </a:avLst>
          </a:prstGeom>
          <a:solidFill>
            <a:srgbClr val="F4F8FA"/>
          </a:solidFill>
          <a:ln w="12700">
            <a:solidFill>
              <a:srgbClr val="DCE6EA"/>
            </a:solidFill>
            <a:prstDash val="solid"/>
          </a:ln>
        </p:spPr>
      </p:sp>
      <p:pic>
        <p:nvPicPr>
          <p:cNvPr id="18" name="Image 3" descr="/home/claude/pptx_project/icons/shuffle.png">    </p:cNvPr>
          <p:cNvPicPr>
            <a:picLocks noChangeAspect="1"/>
          </p:cNvPicPr>
          <p:nvPr/>
        </p:nvPicPr>
        <p:blipFill>
          <a:blip r:embed="rId4"/>
          <a:stretch>
            <a:fillRect/>
          </a:stretch>
        </p:blipFill>
        <p:spPr>
          <a:xfrm>
            <a:off x="685800" y="5212080"/>
            <a:ext cx="868680" cy="868680"/>
          </a:xfrm>
          <a:prstGeom prst="rect">
            <a:avLst/>
          </a:prstGeom>
        </p:spPr>
      </p:pic>
      <p:sp>
        <p:nvSpPr>
          <p:cNvPr id="19" name="Text 13"/>
          <p:cNvSpPr/>
          <p:nvPr/>
        </p:nvSpPr>
        <p:spPr>
          <a:xfrm>
            <a:off x="1737360" y="5138928"/>
            <a:ext cx="3977640" cy="365760"/>
          </a:xfrm>
          <a:prstGeom prst="rect">
            <a:avLst/>
          </a:prstGeom>
          <a:noFill/>
          <a:ln/>
        </p:spPr>
        <p:txBody>
          <a:bodyPr wrap="square" lIns="0" tIns="0" rIns="0" bIns="0" rtlCol="0" anchor="ctr"/>
          <a:lstStyle/>
          <a:p>
            <a:pPr indent="0" marL="0">
              <a:buNone/>
            </a:pPr>
            <a:r>
              <a:rPr lang="en-US" sz="1500" b="1" dirty="0">
                <a:solidFill>
                  <a:srgbClr val="0B2436"/>
                </a:solidFill>
                <a:latin typeface="Calibri" pitchFamily="34" charset="0"/>
                <a:ea typeface="Calibri" pitchFamily="34" charset="-122"/>
                <a:cs typeface="Calibri" pitchFamily="34" charset="-120"/>
              </a:rPr>
              <a:t>What-If Comparisons</a:t>
            </a:r>
            <a:endParaRPr lang="en-US" sz="1500" dirty="0"/>
          </a:p>
        </p:txBody>
      </p:sp>
      <p:sp>
        <p:nvSpPr>
          <p:cNvPr id="20" name="Text 14"/>
          <p:cNvSpPr/>
          <p:nvPr/>
        </p:nvSpPr>
        <p:spPr>
          <a:xfrm>
            <a:off x="1737360" y="5504688"/>
            <a:ext cx="3977640" cy="777240"/>
          </a:xfrm>
          <a:prstGeom prst="rect">
            <a:avLst/>
          </a:prstGeom>
          <a:noFill/>
          <a:ln/>
        </p:spPr>
        <p:txBody>
          <a:bodyPr wrap="square" lIns="0" tIns="0" rIns="0" bIns="0" rtlCol="0" anchor="t"/>
          <a:lstStyle/>
          <a:p>
            <a:pPr indent="0" marL="0">
              <a:buNone/>
            </a:pPr>
            <a:r>
              <a:rPr lang="en-US" sz="1200" dirty="0">
                <a:solidFill>
                  <a:srgbClr val="5B7184"/>
                </a:solidFill>
                <a:latin typeface="Calibri" pitchFamily="34" charset="0"/>
                <a:ea typeface="Calibri" pitchFamily="34" charset="-122"/>
                <a:cs typeface="Calibri" pitchFamily="34" charset="-120"/>
              </a:rPr>
              <a:t>Compare optimization outcomes side by side interactively.</a:t>
            </a:r>
            <a:endParaRPr lang="en-US" sz="1200" dirty="0"/>
          </a:p>
        </p:txBody>
      </p:sp>
      <p:sp>
        <p:nvSpPr>
          <p:cNvPr id="21" name="Shape 15"/>
          <p:cNvSpPr/>
          <p:nvPr/>
        </p:nvSpPr>
        <p:spPr>
          <a:xfrm>
            <a:off x="6263640" y="4937760"/>
            <a:ext cx="5440680" cy="1417320"/>
          </a:xfrm>
          <a:prstGeom prst="roundRect">
            <a:avLst>
              <a:gd name="adj" fmla="val 5161"/>
            </a:avLst>
          </a:prstGeom>
          <a:solidFill>
            <a:srgbClr val="F4F8FA"/>
          </a:solidFill>
          <a:ln w="12700">
            <a:solidFill>
              <a:srgbClr val="DCE6EA"/>
            </a:solidFill>
            <a:prstDash val="solid"/>
          </a:ln>
        </p:spPr>
      </p:sp>
      <p:pic>
        <p:nvPicPr>
          <p:cNvPr id="22" name="Image 4" descr="/home/claude/pptx_project/icons/grid.png">    </p:cNvPr>
          <p:cNvPicPr>
            <a:picLocks noChangeAspect="1"/>
          </p:cNvPicPr>
          <p:nvPr/>
        </p:nvPicPr>
        <p:blipFill>
          <a:blip r:embed="rId5"/>
          <a:stretch>
            <a:fillRect/>
          </a:stretch>
        </p:blipFill>
        <p:spPr>
          <a:xfrm>
            <a:off x="6492240" y="5212080"/>
            <a:ext cx="868680" cy="868680"/>
          </a:xfrm>
          <a:prstGeom prst="rect">
            <a:avLst/>
          </a:prstGeom>
        </p:spPr>
      </p:pic>
      <p:sp>
        <p:nvSpPr>
          <p:cNvPr id="23" name="Text 16"/>
          <p:cNvSpPr/>
          <p:nvPr/>
        </p:nvSpPr>
        <p:spPr>
          <a:xfrm>
            <a:off x="7543800" y="5138928"/>
            <a:ext cx="3977640" cy="365760"/>
          </a:xfrm>
          <a:prstGeom prst="rect">
            <a:avLst/>
          </a:prstGeom>
          <a:noFill/>
          <a:ln/>
        </p:spPr>
        <p:txBody>
          <a:bodyPr wrap="square" lIns="0" tIns="0" rIns="0" bIns="0" rtlCol="0" anchor="ctr"/>
          <a:lstStyle/>
          <a:p>
            <a:pPr indent="0" marL="0">
              <a:buNone/>
            </a:pPr>
            <a:r>
              <a:rPr lang="en-US" sz="1500" b="1" dirty="0">
                <a:solidFill>
                  <a:srgbClr val="0B2436"/>
                </a:solidFill>
                <a:latin typeface="Calibri" pitchFamily="34" charset="0"/>
                <a:ea typeface="Calibri" pitchFamily="34" charset="-122"/>
                <a:cs typeface="Calibri" pitchFamily="34" charset="-120"/>
              </a:rPr>
              <a:t>CP-SAT Solver Core</a:t>
            </a:r>
            <a:endParaRPr lang="en-US" sz="1500" dirty="0"/>
          </a:p>
        </p:txBody>
      </p:sp>
      <p:sp>
        <p:nvSpPr>
          <p:cNvPr id="24" name="Text 17"/>
          <p:cNvSpPr/>
          <p:nvPr/>
        </p:nvSpPr>
        <p:spPr>
          <a:xfrm>
            <a:off x="7543800" y="5504688"/>
            <a:ext cx="3977640" cy="777240"/>
          </a:xfrm>
          <a:prstGeom prst="rect">
            <a:avLst/>
          </a:prstGeom>
          <a:noFill/>
          <a:ln/>
        </p:spPr>
        <p:txBody>
          <a:bodyPr wrap="square" lIns="0" tIns="0" rIns="0" bIns="0" rtlCol="0" anchor="t"/>
          <a:lstStyle/>
          <a:p>
            <a:pPr indent="0" marL="0">
              <a:buNone/>
            </a:pPr>
            <a:r>
              <a:rPr lang="en-US" sz="1200" dirty="0">
                <a:solidFill>
                  <a:srgbClr val="5B7184"/>
                </a:solidFill>
                <a:latin typeface="Calibri" pitchFamily="34" charset="0"/>
                <a:ea typeface="Calibri" pitchFamily="34" charset="-122"/>
                <a:cs typeface="Calibri" pitchFamily="34" charset="-120"/>
              </a:rPr>
              <a:t>Google OR-Tools solves berth &amp; crane constraints exactly.</a:t>
            </a:r>
            <a:endParaRPr lang="en-US" sz="1200" dirty="0"/>
          </a:p>
        </p:txBody>
      </p:sp>
      <p:sp>
        <p:nvSpPr>
          <p:cNvPr id="25"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1050" dirty="0">
                <a:solidFill>
                  <a:srgbClr val="5B7184"/>
                </a:solidFill>
                <a:latin typeface="Calibri" pitchFamily="34" charset="0"/>
                <a:ea typeface="Calibri" pitchFamily="34" charset="-122"/>
                <a:cs typeface="Calibri" pitchFamily="34" charset="-120"/>
              </a:rPr>
              <a:t>Key Feature &amp; Demo Flow</a:t>
            </a:r>
            <a:endParaRPr lang="en-US" sz="1050" dirty="0"/>
          </a:p>
        </p:txBody>
      </p:sp>
      <p:sp>
        <p:nvSpPr>
          <p:cNvPr id="26" name="Text 19"/>
          <p:cNvSpPr/>
          <p:nvPr/>
        </p:nvSpPr>
        <p:spPr>
          <a:xfrm>
            <a:off x="8076895" y="6473952"/>
            <a:ext cx="3657600" cy="274320"/>
          </a:xfrm>
          <a:prstGeom prst="rect">
            <a:avLst/>
          </a:prstGeom>
          <a:noFill/>
          <a:ln/>
        </p:spPr>
        <p:txBody>
          <a:bodyPr wrap="square" lIns="0" tIns="0" rIns="0" bIns="0" rtlCol="0" anchor="ctr"/>
          <a:lstStyle/>
          <a:p>
            <a:pPr algn="r" indent="0" marL="0">
              <a:buNone/>
            </a:pPr>
            <a:r>
              <a:rPr lang="en-US" sz="1050" dirty="0">
                <a:solidFill>
                  <a:srgbClr val="5B7184"/>
                </a:solidFill>
                <a:latin typeface="Calibri" pitchFamily="34" charset="0"/>
                <a:ea typeface="Calibri" pitchFamily="34" charset="-122"/>
                <a:cs typeface="Calibri" pitchFamily="34" charset="-120"/>
              </a:rPr>
              <a:t>Infinite Loop  ·  05 / 08</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411480"/>
            <a:ext cx="2377440" cy="365760"/>
          </a:xfrm>
          <a:prstGeom prst="roundRect">
            <a:avLst>
              <a:gd name="adj" fmla="val 50000"/>
            </a:avLst>
          </a:prstGeom>
          <a:solidFill>
            <a:srgbClr val="065A82"/>
          </a:solidFill>
          <a:ln/>
        </p:spPr>
      </p:sp>
      <p:sp>
        <p:nvSpPr>
          <p:cNvPr id="3" name="Text 1"/>
          <p:cNvSpPr/>
          <p:nvPr/>
        </p:nvSpPr>
        <p:spPr>
          <a:xfrm>
            <a:off x="457200" y="411480"/>
            <a:ext cx="23774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TECHNOLOGY</a:t>
            </a:r>
            <a:endParaRPr lang="en-US" sz="1200" dirty="0"/>
          </a:p>
        </p:txBody>
      </p:sp>
      <p:sp>
        <p:nvSpPr>
          <p:cNvPr id="4" name="Text 2"/>
          <p:cNvSpPr/>
          <p:nvPr/>
        </p:nvSpPr>
        <p:spPr>
          <a:xfrm>
            <a:off x="457200" y="914400"/>
            <a:ext cx="10515600" cy="640080"/>
          </a:xfrm>
          <a:prstGeom prst="rect">
            <a:avLst/>
          </a:prstGeom>
          <a:noFill/>
          <a:ln/>
        </p:spPr>
        <p:txBody>
          <a:bodyPr wrap="square" lIns="0" tIns="0" rIns="0" bIns="0" rtlCol="0" anchor="ctr"/>
          <a:lstStyle/>
          <a:p>
            <a:pPr indent="0" marL="0">
              <a:buNone/>
            </a:pPr>
            <a:r>
              <a:rPr lang="en-US" sz="3000" b="1" dirty="0">
                <a:solidFill>
                  <a:srgbClr val="0B2436"/>
                </a:solidFill>
                <a:latin typeface="Cambria" pitchFamily="34" charset="0"/>
                <a:ea typeface="Cambria" pitchFamily="34" charset="-122"/>
                <a:cs typeface="Cambria" pitchFamily="34" charset="-120"/>
              </a:rPr>
              <a:t>Core AI &amp; Algorithmic Stack</a:t>
            </a:r>
            <a:endParaRPr lang="en-US" sz="3000" dirty="0"/>
          </a:p>
        </p:txBody>
      </p:sp>
      <p:sp>
        <p:nvSpPr>
          <p:cNvPr id="5" name="Text 3"/>
          <p:cNvSpPr/>
          <p:nvPr/>
        </p:nvSpPr>
        <p:spPr>
          <a:xfrm>
            <a:off x="457200" y="1481328"/>
            <a:ext cx="10789920" cy="457200"/>
          </a:xfrm>
          <a:prstGeom prst="rect">
            <a:avLst/>
          </a:prstGeom>
          <a:noFill/>
          <a:ln/>
        </p:spPr>
        <p:txBody>
          <a:bodyPr wrap="square" lIns="0" tIns="0" rIns="0" bIns="0" rtlCol="0" anchor="ctr"/>
          <a:lstStyle/>
          <a:p>
            <a:pPr indent="0" marL="0">
              <a:buNone/>
            </a:pPr>
            <a:r>
              <a:rPr lang="en-US" sz="1450" dirty="0">
                <a:solidFill>
                  <a:srgbClr val="5B7184"/>
                </a:solidFill>
                <a:latin typeface="Calibri" pitchFamily="34" charset="0"/>
                <a:ea typeface="Calibri" pitchFamily="34" charset="-122"/>
                <a:cs typeface="Calibri" pitchFamily="34" charset="-120"/>
              </a:rPr>
              <a:t>Four technologies work together to model, solve, forecast, and stream port operations in real time.</a:t>
            </a:r>
            <a:endParaRPr lang="en-US" sz="1450" dirty="0"/>
          </a:p>
        </p:txBody>
      </p:sp>
      <p:sp>
        <p:nvSpPr>
          <p:cNvPr id="6" name="Shape 4"/>
          <p:cNvSpPr/>
          <p:nvPr/>
        </p:nvSpPr>
        <p:spPr>
          <a:xfrm>
            <a:off x="499720" y="2286000"/>
            <a:ext cx="2606040" cy="3566160"/>
          </a:xfrm>
          <a:prstGeom prst="roundRect">
            <a:avLst>
              <a:gd name="adj" fmla="val 3509"/>
            </a:avLst>
          </a:prstGeom>
          <a:solidFill>
            <a:srgbClr val="F4F8FA"/>
          </a:solidFill>
          <a:ln w="12700">
            <a:solidFill>
              <a:srgbClr val="DCE6EA"/>
            </a:solidFill>
            <a:prstDash val="solid"/>
          </a:ln>
        </p:spPr>
      </p:sp>
      <p:pic>
        <p:nvPicPr>
          <p:cNvPr id="7" name="Image 0" descr="/home/claude/pptx_project/icons/grid.png">    </p:cNvPr>
          <p:cNvPicPr>
            <a:picLocks noChangeAspect="1"/>
          </p:cNvPicPr>
          <p:nvPr/>
        </p:nvPicPr>
        <p:blipFill>
          <a:blip r:embed="rId1"/>
          <a:stretch>
            <a:fillRect/>
          </a:stretch>
        </p:blipFill>
        <p:spPr>
          <a:xfrm>
            <a:off x="1345540" y="2651760"/>
            <a:ext cx="914400" cy="914400"/>
          </a:xfrm>
          <a:prstGeom prst="rect">
            <a:avLst/>
          </a:prstGeom>
        </p:spPr>
      </p:pic>
      <p:sp>
        <p:nvSpPr>
          <p:cNvPr id="8" name="Text 5"/>
          <p:cNvSpPr/>
          <p:nvPr/>
        </p:nvSpPr>
        <p:spPr>
          <a:xfrm>
            <a:off x="636880" y="3703320"/>
            <a:ext cx="2331720" cy="685800"/>
          </a:xfrm>
          <a:prstGeom prst="rect">
            <a:avLst/>
          </a:prstGeom>
          <a:noFill/>
          <a:ln/>
        </p:spPr>
        <p:txBody>
          <a:bodyPr wrap="square" lIns="0" tIns="0" rIns="0" bIns="0" rtlCol="0" anchor="t"/>
          <a:lstStyle/>
          <a:p>
            <a:pPr algn="ctr" indent="0" marL="0">
              <a:buNone/>
            </a:pPr>
            <a:r>
              <a:rPr lang="en-US" sz="1500" b="1" dirty="0">
                <a:solidFill>
                  <a:srgbClr val="065A82"/>
                </a:solidFill>
                <a:latin typeface="Calibri" pitchFamily="34" charset="0"/>
                <a:ea typeface="Calibri" pitchFamily="34" charset="-122"/>
                <a:cs typeface="Calibri" pitchFamily="34" charset="-120"/>
              </a:rPr>
              <a:t>Google OR-Tools</a:t>
            </a:r>
            <a:endParaRPr lang="en-US" sz="1500" dirty="0"/>
          </a:p>
          <a:p>
            <a:pPr algn="ctr" indent="0" marL="0">
              <a:buNone/>
            </a:pPr>
            <a:r>
              <a:rPr lang="en-US" sz="1500" b="1" dirty="0">
                <a:solidFill>
                  <a:srgbClr val="065A82"/>
                </a:solidFill>
                <a:latin typeface="Calibri" pitchFamily="34" charset="0"/>
                <a:ea typeface="Calibri" pitchFamily="34" charset="-122"/>
                <a:cs typeface="Calibri" pitchFamily="34" charset="-120"/>
              </a:rPr>
              <a:t>(CP-SAT)</a:t>
            </a:r>
            <a:endParaRPr lang="en-US" sz="1500" dirty="0"/>
          </a:p>
        </p:txBody>
      </p:sp>
      <p:sp>
        <p:nvSpPr>
          <p:cNvPr id="9" name="Text 6"/>
          <p:cNvSpPr/>
          <p:nvPr/>
        </p:nvSpPr>
        <p:spPr>
          <a:xfrm>
            <a:off x="682600" y="4480560"/>
            <a:ext cx="2240280" cy="1234440"/>
          </a:xfrm>
          <a:prstGeom prst="rect">
            <a:avLst/>
          </a:prstGeom>
          <a:noFill/>
          <a:ln/>
        </p:spPr>
        <p:txBody>
          <a:bodyPr wrap="square" lIns="0" tIns="0" rIns="0" bIns="0" rtlCol="0" anchor="t"/>
          <a:lstStyle/>
          <a:p>
            <a:pPr algn="ctr" indent="0" marL="0">
              <a:buNone/>
            </a:pPr>
            <a:r>
              <a:rPr lang="en-US" sz="1150" dirty="0">
                <a:solidFill>
                  <a:srgbClr val="5B7184"/>
                </a:solidFill>
                <a:latin typeface="Calibri" pitchFamily="34" charset="0"/>
                <a:ea typeface="Calibri" pitchFamily="34" charset="-122"/>
                <a:cs typeface="Calibri" pitchFamily="34" charset="-120"/>
              </a:rPr>
              <a:t>Solves complex berth allocation &amp; crane assignment constraints.</a:t>
            </a:r>
            <a:endParaRPr lang="en-US" sz="1150" dirty="0"/>
          </a:p>
        </p:txBody>
      </p:sp>
      <p:sp>
        <p:nvSpPr>
          <p:cNvPr id="10" name="Shape 7"/>
          <p:cNvSpPr/>
          <p:nvPr/>
        </p:nvSpPr>
        <p:spPr>
          <a:xfrm>
            <a:off x="3361792" y="2286000"/>
            <a:ext cx="2606040" cy="3566160"/>
          </a:xfrm>
          <a:prstGeom prst="roundRect">
            <a:avLst>
              <a:gd name="adj" fmla="val 3509"/>
            </a:avLst>
          </a:prstGeom>
          <a:solidFill>
            <a:srgbClr val="F4F8FA"/>
          </a:solidFill>
          <a:ln w="12700">
            <a:solidFill>
              <a:srgbClr val="DCE6EA"/>
            </a:solidFill>
            <a:prstDash val="solid"/>
          </a:ln>
        </p:spPr>
      </p:sp>
      <p:pic>
        <p:nvPicPr>
          <p:cNvPr id="11" name="Image 1" descr="/home/claude/pptx_project/icons/activity.png">    </p:cNvPr>
          <p:cNvPicPr>
            <a:picLocks noChangeAspect="1"/>
          </p:cNvPicPr>
          <p:nvPr/>
        </p:nvPicPr>
        <p:blipFill>
          <a:blip r:embed="rId2"/>
          <a:stretch>
            <a:fillRect/>
          </a:stretch>
        </p:blipFill>
        <p:spPr>
          <a:xfrm>
            <a:off x="4207612" y="2651760"/>
            <a:ext cx="914400" cy="914400"/>
          </a:xfrm>
          <a:prstGeom prst="rect">
            <a:avLst/>
          </a:prstGeom>
        </p:spPr>
      </p:pic>
      <p:sp>
        <p:nvSpPr>
          <p:cNvPr id="12" name="Text 8"/>
          <p:cNvSpPr/>
          <p:nvPr/>
        </p:nvSpPr>
        <p:spPr>
          <a:xfrm>
            <a:off x="3498952" y="3703320"/>
            <a:ext cx="2331720" cy="685800"/>
          </a:xfrm>
          <a:prstGeom prst="rect">
            <a:avLst/>
          </a:prstGeom>
          <a:noFill/>
          <a:ln/>
        </p:spPr>
        <p:txBody>
          <a:bodyPr wrap="square" lIns="0" tIns="0" rIns="0" bIns="0" rtlCol="0" anchor="t"/>
          <a:lstStyle/>
          <a:p>
            <a:pPr algn="ctr" indent="0" marL="0">
              <a:buNone/>
            </a:pPr>
            <a:r>
              <a:rPr lang="en-US" sz="1500" b="1" dirty="0">
                <a:solidFill>
                  <a:srgbClr val="065A82"/>
                </a:solidFill>
                <a:latin typeface="Calibri" pitchFamily="34" charset="0"/>
                <a:ea typeface="Calibri" pitchFamily="34" charset="-122"/>
                <a:cs typeface="Calibri" pitchFamily="34" charset="-120"/>
              </a:rPr>
              <a:t>SimPy</a:t>
            </a:r>
            <a:endParaRPr lang="en-US" sz="1500" dirty="0"/>
          </a:p>
        </p:txBody>
      </p:sp>
      <p:sp>
        <p:nvSpPr>
          <p:cNvPr id="13" name="Text 9"/>
          <p:cNvSpPr/>
          <p:nvPr/>
        </p:nvSpPr>
        <p:spPr>
          <a:xfrm>
            <a:off x="3544672" y="4480560"/>
            <a:ext cx="2240280" cy="1234440"/>
          </a:xfrm>
          <a:prstGeom prst="rect">
            <a:avLst/>
          </a:prstGeom>
          <a:noFill/>
          <a:ln/>
        </p:spPr>
        <p:txBody>
          <a:bodyPr wrap="square" lIns="0" tIns="0" rIns="0" bIns="0" rtlCol="0" anchor="t"/>
          <a:lstStyle/>
          <a:p>
            <a:pPr algn="ctr" indent="0" marL="0">
              <a:buNone/>
            </a:pPr>
            <a:r>
              <a:rPr lang="en-US" sz="1150" dirty="0">
                <a:solidFill>
                  <a:srgbClr val="5B7184"/>
                </a:solidFill>
                <a:latin typeface="Calibri" pitchFamily="34" charset="0"/>
                <a:ea typeface="Calibri" pitchFamily="34" charset="-122"/>
                <a:cs typeface="Calibri" pitchFamily="34" charset="-120"/>
              </a:rPr>
              <a:t>Discrete Event Simulation engine modeling real-world port dynamics.</a:t>
            </a:r>
            <a:endParaRPr lang="en-US" sz="1150" dirty="0"/>
          </a:p>
        </p:txBody>
      </p:sp>
      <p:sp>
        <p:nvSpPr>
          <p:cNvPr id="14" name="Shape 10"/>
          <p:cNvSpPr/>
          <p:nvPr/>
        </p:nvSpPr>
        <p:spPr>
          <a:xfrm>
            <a:off x="6223864" y="2286000"/>
            <a:ext cx="2606040" cy="3566160"/>
          </a:xfrm>
          <a:prstGeom prst="roundRect">
            <a:avLst>
              <a:gd name="adj" fmla="val 3509"/>
            </a:avLst>
          </a:prstGeom>
          <a:solidFill>
            <a:srgbClr val="F4F8FA"/>
          </a:solidFill>
          <a:ln w="12700">
            <a:solidFill>
              <a:srgbClr val="DCE6EA"/>
            </a:solidFill>
            <a:prstDash val="solid"/>
          </a:ln>
        </p:spPr>
      </p:sp>
      <p:pic>
        <p:nvPicPr>
          <p:cNvPr id="15" name="Image 2" descr="/home/claude/pptx_project/icons/crosshair.png">    </p:cNvPr>
          <p:cNvPicPr>
            <a:picLocks noChangeAspect="1"/>
          </p:cNvPicPr>
          <p:nvPr/>
        </p:nvPicPr>
        <p:blipFill>
          <a:blip r:embed="rId3"/>
          <a:stretch>
            <a:fillRect/>
          </a:stretch>
        </p:blipFill>
        <p:spPr>
          <a:xfrm>
            <a:off x="7069684" y="2651760"/>
            <a:ext cx="914400" cy="914400"/>
          </a:xfrm>
          <a:prstGeom prst="rect">
            <a:avLst/>
          </a:prstGeom>
        </p:spPr>
      </p:pic>
      <p:sp>
        <p:nvSpPr>
          <p:cNvPr id="16" name="Text 11"/>
          <p:cNvSpPr/>
          <p:nvPr/>
        </p:nvSpPr>
        <p:spPr>
          <a:xfrm>
            <a:off x="6361024" y="3703320"/>
            <a:ext cx="2331720" cy="685800"/>
          </a:xfrm>
          <a:prstGeom prst="rect">
            <a:avLst/>
          </a:prstGeom>
          <a:noFill/>
          <a:ln/>
        </p:spPr>
        <p:txBody>
          <a:bodyPr wrap="square" lIns="0" tIns="0" rIns="0" bIns="0" rtlCol="0" anchor="t"/>
          <a:lstStyle/>
          <a:p>
            <a:pPr algn="ctr" indent="0" marL="0">
              <a:buNone/>
            </a:pPr>
            <a:r>
              <a:rPr lang="en-US" sz="1500" b="1" dirty="0">
                <a:solidFill>
                  <a:srgbClr val="065A82"/>
                </a:solidFill>
                <a:latin typeface="Calibri" pitchFamily="34" charset="0"/>
                <a:ea typeface="Calibri" pitchFamily="34" charset="-122"/>
                <a:cs typeface="Calibri" pitchFamily="34" charset="-120"/>
              </a:rPr>
              <a:t>Monte Carlo</a:t>
            </a:r>
            <a:endParaRPr lang="en-US" sz="1500" dirty="0"/>
          </a:p>
          <a:p>
            <a:pPr algn="ctr" indent="0" marL="0">
              <a:buNone/>
            </a:pPr>
            <a:r>
              <a:rPr lang="en-US" sz="1500" b="1" dirty="0">
                <a:solidFill>
                  <a:srgbClr val="065A82"/>
                </a:solidFill>
                <a:latin typeface="Calibri" pitchFamily="34" charset="0"/>
                <a:ea typeface="Calibri" pitchFamily="34" charset="-122"/>
                <a:cs typeface="Calibri" pitchFamily="34" charset="-120"/>
              </a:rPr>
              <a:t>Prediction</a:t>
            </a:r>
            <a:endParaRPr lang="en-US" sz="1500" dirty="0"/>
          </a:p>
        </p:txBody>
      </p:sp>
      <p:sp>
        <p:nvSpPr>
          <p:cNvPr id="17" name="Text 12"/>
          <p:cNvSpPr/>
          <p:nvPr/>
        </p:nvSpPr>
        <p:spPr>
          <a:xfrm>
            <a:off x="6406744" y="4480560"/>
            <a:ext cx="2240280" cy="1234440"/>
          </a:xfrm>
          <a:prstGeom prst="rect">
            <a:avLst/>
          </a:prstGeom>
          <a:noFill/>
          <a:ln/>
        </p:spPr>
        <p:txBody>
          <a:bodyPr wrap="square" lIns="0" tIns="0" rIns="0" bIns="0" rtlCol="0" anchor="t"/>
          <a:lstStyle/>
          <a:p>
            <a:pPr algn="ctr" indent="0" marL="0">
              <a:buNone/>
            </a:pPr>
            <a:r>
              <a:rPr lang="en-US" sz="1150" dirty="0">
                <a:solidFill>
                  <a:srgbClr val="5B7184"/>
                </a:solidFill>
                <a:latin typeface="Calibri" pitchFamily="34" charset="0"/>
                <a:ea typeface="Calibri" pitchFamily="34" charset="-122"/>
                <a:cs typeface="Calibri" pitchFamily="34" charset="-120"/>
              </a:rPr>
              <a:t>Evaluates forward congestion risks and identifies hotspots.</a:t>
            </a:r>
            <a:endParaRPr lang="en-US" sz="1150" dirty="0"/>
          </a:p>
        </p:txBody>
      </p:sp>
      <p:sp>
        <p:nvSpPr>
          <p:cNvPr id="18" name="Shape 13"/>
          <p:cNvSpPr/>
          <p:nvPr/>
        </p:nvSpPr>
        <p:spPr>
          <a:xfrm>
            <a:off x="9085936" y="2286000"/>
            <a:ext cx="2606040" cy="3566160"/>
          </a:xfrm>
          <a:prstGeom prst="roundRect">
            <a:avLst>
              <a:gd name="adj" fmla="val 3509"/>
            </a:avLst>
          </a:prstGeom>
          <a:solidFill>
            <a:srgbClr val="F4F8FA"/>
          </a:solidFill>
          <a:ln w="12700">
            <a:solidFill>
              <a:srgbClr val="DCE6EA"/>
            </a:solidFill>
            <a:prstDash val="solid"/>
          </a:ln>
        </p:spPr>
      </p:sp>
      <p:pic>
        <p:nvPicPr>
          <p:cNvPr id="19" name="Image 3" descr="/home/claude/pptx_project/icons/zap.png">    </p:cNvPr>
          <p:cNvPicPr>
            <a:picLocks noChangeAspect="1"/>
          </p:cNvPicPr>
          <p:nvPr/>
        </p:nvPicPr>
        <p:blipFill>
          <a:blip r:embed="rId4"/>
          <a:stretch>
            <a:fillRect/>
          </a:stretch>
        </p:blipFill>
        <p:spPr>
          <a:xfrm>
            <a:off x="9931756" y="2651760"/>
            <a:ext cx="914400" cy="914400"/>
          </a:xfrm>
          <a:prstGeom prst="rect">
            <a:avLst/>
          </a:prstGeom>
        </p:spPr>
      </p:pic>
      <p:sp>
        <p:nvSpPr>
          <p:cNvPr id="20" name="Text 14"/>
          <p:cNvSpPr/>
          <p:nvPr/>
        </p:nvSpPr>
        <p:spPr>
          <a:xfrm>
            <a:off x="9223096" y="3703320"/>
            <a:ext cx="2331720" cy="685800"/>
          </a:xfrm>
          <a:prstGeom prst="rect">
            <a:avLst/>
          </a:prstGeom>
          <a:noFill/>
          <a:ln/>
        </p:spPr>
        <p:txBody>
          <a:bodyPr wrap="square" lIns="0" tIns="0" rIns="0" bIns="0" rtlCol="0" anchor="t"/>
          <a:lstStyle/>
          <a:p>
            <a:pPr algn="ctr" indent="0" marL="0">
              <a:buNone/>
            </a:pPr>
            <a:r>
              <a:rPr lang="en-US" sz="1500" b="1" dirty="0">
                <a:solidFill>
                  <a:srgbClr val="065A82"/>
                </a:solidFill>
                <a:latin typeface="Calibri" pitchFamily="34" charset="0"/>
                <a:ea typeface="Calibri" pitchFamily="34" charset="-122"/>
                <a:cs typeface="Calibri" pitchFamily="34" charset="-120"/>
              </a:rPr>
              <a:t>FastAPI &amp;</a:t>
            </a:r>
            <a:endParaRPr lang="en-US" sz="1500" dirty="0"/>
          </a:p>
          <a:p>
            <a:pPr algn="ctr" indent="0" marL="0">
              <a:buNone/>
            </a:pPr>
            <a:r>
              <a:rPr lang="en-US" sz="1500" b="1" dirty="0">
                <a:solidFill>
                  <a:srgbClr val="065A82"/>
                </a:solidFill>
                <a:latin typeface="Calibri" pitchFamily="34" charset="0"/>
                <a:ea typeface="Calibri" pitchFamily="34" charset="-122"/>
                <a:cs typeface="Calibri" pitchFamily="34" charset="-120"/>
              </a:rPr>
              <a:t>WebSockets</a:t>
            </a:r>
            <a:endParaRPr lang="en-US" sz="1500" dirty="0"/>
          </a:p>
        </p:txBody>
      </p:sp>
      <p:sp>
        <p:nvSpPr>
          <p:cNvPr id="21" name="Text 15"/>
          <p:cNvSpPr/>
          <p:nvPr/>
        </p:nvSpPr>
        <p:spPr>
          <a:xfrm>
            <a:off x="9268816" y="4480560"/>
            <a:ext cx="2240280" cy="1234440"/>
          </a:xfrm>
          <a:prstGeom prst="rect">
            <a:avLst/>
          </a:prstGeom>
          <a:noFill/>
          <a:ln/>
        </p:spPr>
        <p:txBody>
          <a:bodyPr wrap="square" lIns="0" tIns="0" rIns="0" bIns="0" rtlCol="0" anchor="t"/>
          <a:lstStyle/>
          <a:p>
            <a:pPr algn="ctr" indent="0" marL="0">
              <a:buNone/>
            </a:pPr>
            <a:r>
              <a:rPr lang="en-US" sz="1150" dirty="0">
                <a:solidFill>
                  <a:srgbClr val="5B7184"/>
                </a:solidFill>
                <a:latin typeface="Calibri" pitchFamily="34" charset="0"/>
                <a:ea typeface="Calibri" pitchFamily="34" charset="-122"/>
                <a:cs typeface="Calibri" pitchFamily="34" charset="-120"/>
              </a:rPr>
              <a:t>Powers low-latency live streaming to the React dashboard.</a:t>
            </a:r>
            <a:endParaRPr lang="en-US" sz="1150" dirty="0"/>
          </a:p>
        </p:txBody>
      </p:sp>
      <p:sp>
        <p:nvSpPr>
          <p:cNvPr id="22" name="Text 1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1050" dirty="0">
                <a:solidFill>
                  <a:srgbClr val="5B7184"/>
                </a:solidFill>
                <a:latin typeface="Calibri" pitchFamily="34" charset="0"/>
                <a:ea typeface="Calibri" pitchFamily="34" charset="-122"/>
                <a:cs typeface="Calibri" pitchFamily="34" charset="-120"/>
              </a:rPr>
              <a:t>Core Technology Integration</a:t>
            </a:r>
            <a:endParaRPr lang="en-US" sz="1050" dirty="0"/>
          </a:p>
        </p:txBody>
      </p:sp>
      <p:sp>
        <p:nvSpPr>
          <p:cNvPr id="23" name="Text 17"/>
          <p:cNvSpPr/>
          <p:nvPr/>
        </p:nvSpPr>
        <p:spPr>
          <a:xfrm>
            <a:off x="8076895" y="6473952"/>
            <a:ext cx="3657600" cy="274320"/>
          </a:xfrm>
          <a:prstGeom prst="rect">
            <a:avLst/>
          </a:prstGeom>
          <a:noFill/>
          <a:ln/>
        </p:spPr>
        <p:txBody>
          <a:bodyPr wrap="square" lIns="0" tIns="0" rIns="0" bIns="0" rtlCol="0" anchor="ctr"/>
          <a:lstStyle/>
          <a:p>
            <a:pPr algn="r" indent="0" marL="0">
              <a:buNone/>
            </a:pPr>
            <a:r>
              <a:rPr lang="en-US" sz="1050" dirty="0">
                <a:solidFill>
                  <a:srgbClr val="5B7184"/>
                </a:solidFill>
                <a:latin typeface="Calibri" pitchFamily="34" charset="0"/>
                <a:ea typeface="Calibri" pitchFamily="34" charset="-122"/>
                <a:cs typeface="Calibri" pitchFamily="34" charset="-120"/>
              </a:rPr>
              <a:t>Infinite Loop  ·  06 / 08</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457200" y="411480"/>
            <a:ext cx="2377440" cy="365760"/>
          </a:xfrm>
          <a:prstGeom prst="roundRect">
            <a:avLst>
              <a:gd name="adj" fmla="val 50000"/>
            </a:avLst>
          </a:prstGeom>
          <a:solidFill>
            <a:srgbClr val="02C39A"/>
          </a:solidFill>
          <a:ln/>
        </p:spPr>
      </p:sp>
      <p:sp>
        <p:nvSpPr>
          <p:cNvPr id="3" name="Text 1"/>
          <p:cNvSpPr/>
          <p:nvPr/>
        </p:nvSpPr>
        <p:spPr>
          <a:xfrm>
            <a:off x="457200" y="411480"/>
            <a:ext cx="23774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RESULTS &amp; IMPACT</a:t>
            </a:r>
            <a:endParaRPr lang="en-US" sz="1200" dirty="0"/>
          </a:p>
        </p:txBody>
      </p:sp>
      <p:sp>
        <p:nvSpPr>
          <p:cNvPr id="4" name="Text 2"/>
          <p:cNvSpPr/>
          <p:nvPr/>
        </p:nvSpPr>
        <p:spPr>
          <a:xfrm>
            <a:off x="457200" y="91440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Measurable Impact, Real Fast</a:t>
            </a:r>
            <a:endParaRPr lang="en-US" sz="3000" dirty="0"/>
          </a:p>
        </p:txBody>
      </p:sp>
      <p:sp>
        <p:nvSpPr>
          <p:cNvPr id="5" name="Shape 3"/>
          <p:cNvSpPr/>
          <p:nvPr/>
        </p:nvSpPr>
        <p:spPr>
          <a:xfrm>
            <a:off x="449428" y="2011680"/>
            <a:ext cx="3520440" cy="3931920"/>
          </a:xfrm>
          <a:prstGeom prst="roundRect">
            <a:avLst>
              <a:gd name="adj" fmla="val 2597"/>
            </a:avLst>
          </a:prstGeom>
          <a:solidFill>
            <a:srgbClr val="242E63"/>
          </a:solidFill>
          <a:ln w="12700">
            <a:solidFill>
              <a:srgbClr val="3A4680"/>
            </a:solidFill>
            <a:prstDash val="solid"/>
          </a:ln>
        </p:spPr>
      </p:sp>
      <p:pic>
        <p:nvPicPr>
          <p:cNvPr id="6" name="Image 0" descr="/home/claude/pptx_project/icons/trenddown.png">    </p:cNvPr>
          <p:cNvPicPr>
            <a:picLocks noChangeAspect="1"/>
          </p:cNvPicPr>
          <p:nvPr/>
        </p:nvPicPr>
        <p:blipFill>
          <a:blip r:embed="rId1"/>
          <a:stretch>
            <a:fillRect/>
          </a:stretch>
        </p:blipFill>
        <p:spPr>
          <a:xfrm>
            <a:off x="1706728" y="2423160"/>
            <a:ext cx="1005840" cy="1005840"/>
          </a:xfrm>
          <a:prstGeom prst="rect">
            <a:avLst/>
          </a:prstGeom>
        </p:spPr>
      </p:pic>
      <p:sp>
        <p:nvSpPr>
          <p:cNvPr id="7" name="Text 4"/>
          <p:cNvSpPr/>
          <p:nvPr/>
        </p:nvSpPr>
        <p:spPr>
          <a:xfrm>
            <a:off x="632308" y="3657600"/>
            <a:ext cx="3154680" cy="822960"/>
          </a:xfrm>
          <a:prstGeom prst="rect">
            <a:avLst/>
          </a:prstGeom>
          <a:noFill/>
          <a:ln/>
        </p:spPr>
        <p:txBody>
          <a:bodyPr wrap="square" lIns="0" tIns="0" rIns="0" bIns="0" rtlCol="0" anchor="ctr"/>
          <a:lstStyle/>
          <a:p>
            <a:pPr algn="ctr" indent="0" marL="0">
              <a:buNone/>
            </a:pPr>
            <a:r>
              <a:rPr lang="en-US" sz="3600" b="1" dirty="0">
                <a:solidFill>
                  <a:srgbClr val="02C39A"/>
                </a:solidFill>
                <a:latin typeface="Cambria" pitchFamily="34" charset="0"/>
                <a:ea typeface="Cambria" pitchFamily="34" charset="-122"/>
                <a:cs typeface="Cambria" pitchFamily="34" charset="-120"/>
              </a:rPr>
              <a:t>20–40%</a:t>
            </a:r>
            <a:endParaRPr lang="en-US" sz="3600" dirty="0"/>
          </a:p>
        </p:txBody>
      </p:sp>
      <p:sp>
        <p:nvSpPr>
          <p:cNvPr id="8" name="Text 5"/>
          <p:cNvSpPr/>
          <p:nvPr/>
        </p:nvSpPr>
        <p:spPr>
          <a:xfrm>
            <a:off x="769468" y="4526280"/>
            <a:ext cx="2880360" cy="1234440"/>
          </a:xfrm>
          <a:prstGeom prst="rect">
            <a:avLst/>
          </a:prstGeom>
          <a:noFill/>
          <a:ln/>
        </p:spPr>
        <p:txBody>
          <a:bodyPr wrap="square" lIns="0" tIns="0" rIns="0" bIns="0" rtlCol="0" anchor="t"/>
          <a:lstStyle/>
          <a:p>
            <a:pPr algn="ctr" indent="0" marL="0">
              <a:buNone/>
            </a:pPr>
            <a:r>
              <a:rPr lang="en-US" sz="1350" dirty="0">
                <a:solidFill>
                  <a:srgbClr val="CADCFC"/>
                </a:solidFill>
                <a:latin typeface="Calibri" pitchFamily="34" charset="0"/>
                <a:ea typeface="Calibri" pitchFamily="34" charset="-122"/>
                <a:cs typeface="Calibri" pitchFamily="34" charset="-120"/>
              </a:rPr>
              <a:t>Reduction in vessel wait times vs. standard FCFS scheduling</a:t>
            </a:r>
            <a:endParaRPr lang="en-US" sz="1350" dirty="0"/>
          </a:p>
        </p:txBody>
      </p:sp>
      <p:sp>
        <p:nvSpPr>
          <p:cNvPr id="9" name="Shape 6"/>
          <p:cNvSpPr/>
          <p:nvPr/>
        </p:nvSpPr>
        <p:spPr>
          <a:xfrm>
            <a:off x="4335628" y="2011680"/>
            <a:ext cx="3520440" cy="3931920"/>
          </a:xfrm>
          <a:prstGeom prst="roundRect">
            <a:avLst>
              <a:gd name="adj" fmla="val 2597"/>
            </a:avLst>
          </a:prstGeom>
          <a:solidFill>
            <a:srgbClr val="242E63"/>
          </a:solidFill>
          <a:ln w="12700">
            <a:solidFill>
              <a:srgbClr val="3A4680"/>
            </a:solidFill>
            <a:prstDash val="solid"/>
          </a:ln>
        </p:spPr>
      </p:sp>
      <p:pic>
        <p:nvPicPr>
          <p:cNvPr id="10" name="Image 1" descr="/home/claude/pptx_project/icons/zap.png">    </p:cNvPr>
          <p:cNvPicPr>
            <a:picLocks noChangeAspect="1"/>
          </p:cNvPicPr>
          <p:nvPr/>
        </p:nvPicPr>
        <p:blipFill>
          <a:blip r:embed="rId2"/>
          <a:stretch>
            <a:fillRect/>
          </a:stretch>
        </p:blipFill>
        <p:spPr>
          <a:xfrm>
            <a:off x="5592928" y="2423160"/>
            <a:ext cx="1005840" cy="1005840"/>
          </a:xfrm>
          <a:prstGeom prst="rect">
            <a:avLst/>
          </a:prstGeom>
        </p:spPr>
      </p:pic>
      <p:sp>
        <p:nvSpPr>
          <p:cNvPr id="11" name="Text 7"/>
          <p:cNvSpPr/>
          <p:nvPr/>
        </p:nvSpPr>
        <p:spPr>
          <a:xfrm>
            <a:off x="4518508" y="3657600"/>
            <a:ext cx="3154680" cy="822960"/>
          </a:xfrm>
          <a:prstGeom prst="rect">
            <a:avLst/>
          </a:prstGeom>
          <a:noFill/>
          <a:ln/>
        </p:spPr>
        <p:txBody>
          <a:bodyPr wrap="square" lIns="0" tIns="0" rIns="0" bIns="0" rtlCol="0" anchor="ctr"/>
          <a:lstStyle/>
          <a:p>
            <a:pPr algn="ctr" indent="0" marL="0">
              <a:buNone/>
            </a:pPr>
            <a:r>
              <a:rPr lang="en-US" sz="3600" b="1" dirty="0">
                <a:solidFill>
                  <a:srgbClr val="02C39A"/>
                </a:solidFill>
                <a:latin typeface="Cambria" pitchFamily="34" charset="0"/>
                <a:ea typeface="Cambria" pitchFamily="34" charset="-122"/>
                <a:cs typeface="Cambria" pitchFamily="34" charset="-120"/>
              </a:rPr>
              <a:t>&lt; 2 sec</a:t>
            </a:r>
            <a:endParaRPr lang="en-US" sz="3600" dirty="0"/>
          </a:p>
        </p:txBody>
      </p:sp>
      <p:sp>
        <p:nvSpPr>
          <p:cNvPr id="12" name="Text 8"/>
          <p:cNvSpPr/>
          <p:nvPr/>
        </p:nvSpPr>
        <p:spPr>
          <a:xfrm>
            <a:off x="4655668" y="4526280"/>
            <a:ext cx="2880360" cy="1234440"/>
          </a:xfrm>
          <a:prstGeom prst="rect">
            <a:avLst/>
          </a:prstGeom>
          <a:noFill/>
          <a:ln/>
        </p:spPr>
        <p:txBody>
          <a:bodyPr wrap="square" lIns="0" tIns="0" rIns="0" bIns="0" rtlCol="0" anchor="t"/>
          <a:lstStyle/>
          <a:p>
            <a:pPr algn="ctr" indent="0" marL="0">
              <a:buNone/>
            </a:pPr>
            <a:r>
              <a:rPr lang="en-US" sz="1350" dirty="0">
                <a:solidFill>
                  <a:srgbClr val="CADCFC"/>
                </a:solidFill>
                <a:latin typeface="Calibri" pitchFamily="34" charset="0"/>
                <a:ea typeface="Calibri" pitchFamily="34" charset="-122"/>
                <a:cs typeface="Calibri" pitchFamily="34" charset="-120"/>
              </a:rPr>
              <a:t>End-to-end simulation and shift schedule generation</a:t>
            </a:r>
            <a:endParaRPr lang="en-US" sz="1350" dirty="0"/>
          </a:p>
        </p:txBody>
      </p:sp>
      <p:sp>
        <p:nvSpPr>
          <p:cNvPr id="13" name="Shape 9"/>
          <p:cNvSpPr/>
          <p:nvPr/>
        </p:nvSpPr>
        <p:spPr>
          <a:xfrm>
            <a:off x="8221828" y="2011680"/>
            <a:ext cx="3520440" cy="3931920"/>
          </a:xfrm>
          <a:prstGeom prst="roundRect">
            <a:avLst>
              <a:gd name="adj" fmla="val 2597"/>
            </a:avLst>
          </a:prstGeom>
          <a:solidFill>
            <a:srgbClr val="242E63"/>
          </a:solidFill>
          <a:ln w="12700">
            <a:solidFill>
              <a:srgbClr val="3A4680"/>
            </a:solidFill>
            <a:prstDash val="solid"/>
          </a:ln>
        </p:spPr>
      </p:sp>
      <p:pic>
        <p:nvPicPr>
          <p:cNvPr id="14" name="Image 2" descr="/home/claude/pptx_project/icons/clipboard.png">    </p:cNvPr>
          <p:cNvPicPr>
            <a:picLocks noChangeAspect="1"/>
          </p:cNvPicPr>
          <p:nvPr/>
        </p:nvPicPr>
        <p:blipFill>
          <a:blip r:embed="rId3"/>
          <a:stretch>
            <a:fillRect/>
          </a:stretch>
        </p:blipFill>
        <p:spPr>
          <a:xfrm>
            <a:off x="9479128" y="2423160"/>
            <a:ext cx="1005840" cy="1005840"/>
          </a:xfrm>
          <a:prstGeom prst="rect">
            <a:avLst/>
          </a:prstGeom>
        </p:spPr>
      </p:pic>
      <p:sp>
        <p:nvSpPr>
          <p:cNvPr id="15" name="Text 10"/>
          <p:cNvSpPr/>
          <p:nvPr/>
        </p:nvSpPr>
        <p:spPr>
          <a:xfrm>
            <a:off x="8404708" y="3657600"/>
            <a:ext cx="3154680" cy="822960"/>
          </a:xfrm>
          <a:prstGeom prst="rect">
            <a:avLst/>
          </a:prstGeom>
          <a:noFill/>
          <a:ln/>
        </p:spPr>
        <p:txBody>
          <a:bodyPr wrap="square" lIns="0" tIns="0" rIns="0" bIns="0" rtlCol="0" anchor="ctr"/>
          <a:lstStyle/>
          <a:p>
            <a:pPr algn="ctr" indent="0" marL="0">
              <a:buNone/>
            </a:pPr>
            <a:r>
              <a:rPr lang="en-US" sz="3600" b="1" dirty="0">
                <a:solidFill>
                  <a:srgbClr val="02C39A"/>
                </a:solidFill>
                <a:latin typeface="Cambria" pitchFamily="34" charset="0"/>
                <a:ea typeface="Cambria" pitchFamily="34" charset="-122"/>
                <a:cs typeface="Cambria" pitchFamily="34" charset="-120"/>
              </a:rPr>
              <a:t>72-hr</a:t>
            </a:r>
            <a:endParaRPr lang="en-US" sz="3600" dirty="0"/>
          </a:p>
        </p:txBody>
      </p:sp>
      <p:sp>
        <p:nvSpPr>
          <p:cNvPr id="16" name="Text 11"/>
          <p:cNvSpPr/>
          <p:nvPr/>
        </p:nvSpPr>
        <p:spPr>
          <a:xfrm>
            <a:off x="8541868" y="4526280"/>
            <a:ext cx="2880360" cy="1234440"/>
          </a:xfrm>
          <a:prstGeom prst="rect">
            <a:avLst/>
          </a:prstGeom>
          <a:noFill/>
          <a:ln/>
        </p:spPr>
        <p:txBody>
          <a:bodyPr wrap="square" lIns="0" tIns="0" rIns="0" bIns="0" rtlCol="0" anchor="t"/>
          <a:lstStyle/>
          <a:p>
            <a:pPr algn="ctr" indent="0" marL="0">
              <a:buNone/>
            </a:pPr>
            <a:r>
              <a:rPr lang="en-US" sz="1350" dirty="0">
                <a:solidFill>
                  <a:srgbClr val="CADCFC"/>
                </a:solidFill>
                <a:latin typeface="Calibri" pitchFamily="34" charset="0"/>
                <a:ea typeface="Calibri" pitchFamily="34" charset="-122"/>
                <a:cs typeface="Calibri" pitchFamily="34" charset="-120"/>
              </a:rPr>
              <a:t>Automated shift work orders with contingency notes</a:t>
            </a:r>
            <a:endParaRPr lang="en-US" sz="1350" dirty="0"/>
          </a:p>
        </p:txBody>
      </p:sp>
      <p:sp>
        <p:nvSpPr>
          <p:cNvPr id="17"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1050" dirty="0">
                <a:solidFill>
                  <a:srgbClr val="A9B6D8"/>
                </a:solidFill>
                <a:latin typeface="Calibri" pitchFamily="34" charset="0"/>
                <a:ea typeface="Calibri" pitchFamily="34" charset="-122"/>
                <a:cs typeface="Calibri" pitchFamily="34" charset="-120"/>
              </a:rPr>
              <a:t>Results &amp; Impact</a:t>
            </a:r>
            <a:endParaRPr lang="en-US" sz="1050" dirty="0"/>
          </a:p>
        </p:txBody>
      </p:sp>
      <p:sp>
        <p:nvSpPr>
          <p:cNvPr id="18" name="Text 13"/>
          <p:cNvSpPr/>
          <p:nvPr/>
        </p:nvSpPr>
        <p:spPr>
          <a:xfrm>
            <a:off x="8076895" y="6473952"/>
            <a:ext cx="3657600" cy="274320"/>
          </a:xfrm>
          <a:prstGeom prst="rect">
            <a:avLst/>
          </a:prstGeom>
          <a:noFill/>
          <a:ln/>
        </p:spPr>
        <p:txBody>
          <a:bodyPr wrap="square" lIns="0" tIns="0" rIns="0" bIns="0" rtlCol="0" anchor="ctr"/>
          <a:lstStyle/>
          <a:p>
            <a:pPr algn="r" indent="0" marL="0">
              <a:buNone/>
            </a:pPr>
            <a:r>
              <a:rPr lang="en-US" sz="1050" dirty="0">
                <a:solidFill>
                  <a:srgbClr val="A9B6D8"/>
                </a:solidFill>
                <a:latin typeface="Calibri" pitchFamily="34" charset="0"/>
                <a:ea typeface="Calibri" pitchFamily="34" charset="-122"/>
                <a:cs typeface="Calibri" pitchFamily="34" charset="-120"/>
              </a:rPr>
              <a:t>Infinite Loop  ·  07 / 08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411480"/>
            <a:ext cx="2377440" cy="365760"/>
          </a:xfrm>
          <a:prstGeom prst="roundRect">
            <a:avLst>
              <a:gd name="adj" fmla="val 50000"/>
            </a:avLst>
          </a:prstGeom>
          <a:solidFill>
            <a:srgbClr val="1C7293"/>
          </a:solidFill>
          <a:ln/>
        </p:spPr>
      </p:sp>
      <p:sp>
        <p:nvSpPr>
          <p:cNvPr id="3" name="Text 1"/>
          <p:cNvSpPr/>
          <p:nvPr/>
        </p:nvSpPr>
        <p:spPr>
          <a:xfrm>
            <a:off x="457200" y="411480"/>
            <a:ext cx="23774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OUR TEAM</a:t>
            </a:r>
            <a:endParaRPr lang="en-US" sz="1200" dirty="0"/>
          </a:p>
        </p:txBody>
      </p:sp>
      <p:sp>
        <p:nvSpPr>
          <p:cNvPr id="4" name="Text 2"/>
          <p:cNvSpPr/>
          <p:nvPr/>
        </p:nvSpPr>
        <p:spPr>
          <a:xfrm>
            <a:off x="457200" y="914400"/>
            <a:ext cx="10515600" cy="640080"/>
          </a:xfrm>
          <a:prstGeom prst="rect">
            <a:avLst/>
          </a:prstGeom>
          <a:noFill/>
          <a:ln/>
        </p:spPr>
        <p:txBody>
          <a:bodyPr wrap="square" lIns="0" tIns="0" rIns="0" bIns="0" rtlCol="0" anchor="ctr"/>
          <a:lstStyle/>
          <a:p>
            <a:pPr indent="0" marL="0">
              <a:buNone/>
            </a:pPr>
            <a:r>
              <a:rPr lang="en-US" sz="3000" b="1" dirty="0">
                <a:solidFill>
                  <a:srgbClr val="0B2436"/>
                </a:solidFill>
                <a:latin typeface="Cambria" pitchFamily="34" charset="0"/>
                <a:ea typeface="Cambria" pitchFamily="34" charset="-122"/>
                <a:cs typeface="Cambria" pitchFamily="34" charset="-120"/>
              </a:rPr>
              <a:t>Team Infinite Loop</a:t>
            </a:r>
            <a:endParaRPr lang="en-US" sz="3000" dirty="0"/>
          </a:p>
        </p:txBody>
      </p:sp>
      <p:sp>
        <p:nvSpPr>
          <p:cNvPr id="5" name="Shape 3"/>
          <p:cNvSpPr/>
          <p:nvPr/>
        </p:nvSpPr>
        <p:spPr>
          <a:xfrm>
            <a:off x="499720" y="1737360"/>
            <a:ext cx="2606040" cy="3657600"/>
          </a:xfrm>
          <a:prstGeom prst="roundRect">
            <a:avLst>
              <a:gd name="adj" fmla="val 3509"/>
            </a:avLst>
          </a:prstGeom>
          <a:solidFill>
            <a:srgbClr val="21295C"/>
          </a:solidFill>
          <a:ln w="12700">
            <a:solidFill>
              <a:srgbClr val="21295C"/>
            </a:solidFill>
            <a:prstDash val="solid"/>
          </a:ln>
        </p:spPr>
      </p:sp>
      <p:sp>
        <p:nvSpPr>
          <p:cNvPr id="6" name="Shape 4"/>
          <p:cNvSpPr/>
          <p:nvPr/>
        </p:nvSpPr>
        <p:spPr>
          <a:xfrm>
            <a:off x="682600" y="1920240"/>
            <a:ext cx="1005840" cy="320040"/>
          </a:xfrm>
          <a:prstGeom prst="roundRect">
            <a:avLst>
              <a:gd name="adj" fmla="val 48571"/>
            </a:avLst>
          </a:prstGeom>
          <a:solidFill>
            <a:srgbClr val="02C39A"/>
          </a:solidFill>
          <a:ln/>
        </p:spPr>
      </p:sp>
      <p:sp>
        <p:nvSpPr>
          <p:cNvPr id="7" name="Text 5"/>
          <p:cNvSpPr/>
          <p:nvPr/>
        </p:nvSpPr>
        <p:spPr>
          <a:xfrm>
            <a:off x="682600" y="1920240"/>
            <a:ext cx="1005840" cy="32004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LEAD</a:t>
            </a:r>
            <a:endParaRPr lang="en-US" sz="1050" dirty="0"/>
          </a:p>
        </p:txBody>
      </p:sp>
      <p:pic>
        <p:nvPicPr>
          <p:cNvPr id="8" name="Image 0" descr="/home/claude/pptx_project/icons/user.png">    </p:cNvPr>
          <p:cNvPicPr>
            <a:picLocks noChangeAspect="1"/>
          </p:cNvPicPr>
          <p:nvPr/>
        </p:nvPicPr>
        <p:blipFill>
          <a:blip r:embed="rId1"/>
          <a:stretch>
            <a:fillRect/>
          </a:stretch>
        </p:blipFill>
        <p:spPr>
          <a:xfrm>
            <a:off x="1299820" y="2331720"/>
            <a:ext cx="1005840" cy="1005840"/>
          </a:xfrm>
          <a:prstGeom prst="rect">
            <a:avLst/>
          </a:prstGeom>
        </p:spPr>
      </p:pic>
      <p:sp>
        <p:nvSpPr>
          <p:cNvPr id="9" name="Text 6"/>
          <p:cNvSpPr/>
          <p:nvPr/>
        </p:nvSpPr>
        <p:spPr>
          <a:xfrm>
            <a:off x="636880" y="3520440"/>
            <a:ext cx="2331720" cy="5029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Prajapati Vedant</a:t>
            </a:r>
            <a:endParaRPr lang="en-US" sz="1500" dirty="0"/>
          </a:p>
        </p:txBody>
      </p:sp>
      <p:sp>
        <p:nvSpPr>
          <p:cNvPr id="10" name="Text 7"/>
          <p:cNvSpPr/>
          <p:nvPr/>
        </p:nvSpPr>
        <p:spPr>
          <a:xfrm>
            <a:off x="636880" y="3950208"/>
            <a:ext cx="2331720" cy="274320"/>
          </a:xfrm>
          <a:prstGeom prst="rect">
            <a:avLst/>
          </a:prstGeom>
          <a:noFill/>
          <a:ln/>
        </p:spPr>
        <p:txBody>
          <a:bodyPr wrap="square" lIns="0" tIns="0" rIns="0" bIns="0"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Team Lead</a:t>
            </a:r>
            <a:endParaRPr lang="en-US" sz="1100" dirty="0"/>
          </a:p>
        </p:txBody>
      </p:sp>
      <p:sp>
        <p:nvSpPr>
          <p:cNvPr id="11" name="Text 8"/>
          <p:cNvSpPr/>
          <p:nvPr/>
        </p:nvSpPr>
        <p:spPr>
          <a:xfrm>
            <a:off x="700888" y="4297680"/>
            <a:ext cx="2203704" cy="1005840"/>
          </a:xfrm>
          <a:prstGeom prst="rect">
            <a:avLst/>
          </a:prstGeom>
          <a:noFill/>
          <a:ln/>
        </p:spPr>
        <p:txBody>
          <a:bodyPr wrap="square" lIns="0" tIns="0" rIns="0" bIns="0"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Architecture, CP-SAT Optimization &amp; Backend APIs</a:t>
            </a:r>
            <a:endParaRPr lang="en-US" sz="1100" dirty="0"/>
          </a:p>
        </p:txBody>
      </p:sp>
      <p:sp>
        <p:nvSpPr>
          <p:cNvPr id="12" name="Shape 9"/>
          <p:cNvSpPr/>
          <p:nvPr/>
        </p:nvSpPr>
        <p:spPr>
          <a:xfrm>
            <a:off x="3361792" y="1737360"/>
            <a:ext cx="2606040" cy="3657600"/>
          </a:xfrm>
          <a:prstGeom prst="roundRect">
            <a:avLst>
              <a:gd name="adj" fmla="val 3509"/>
            </a:avLst>
          </a:prstGeom>
          <a:solidFill>
            <a:srgbClr val="F4F8FA"/>
          </a:solidFill>
          <a:ln w="12700">
            <a:solidFill>
              <a:srgbClr val="DCE6EA"/>
            </a:solidFill>
            <a:prstDash val="solid"/>
          </a:ln>
        </p:spPr>
      </p:sp>
      <p:pic>
        <p:nvPicPr>
          <p:cNvPr id="13" name="Image 1" descr="/home/claude/pptx_project/icons/user.png">    </p:cNvPr>
          <p:cNvPicPr>
            <a:picLocks noChangeAspect="1"/>
          </p:cNvPicPr>
          <p:nvPr/>
        </p:nvPicPr>
        <p:blipFill>
          <a:blip r:embed="rId2"/>
          <a:stretch>
            <a:fillRect/>
          </a:stretch>
        </p:blipFill>
        <p:spPr>
          <a:xfrm>
            <a:off x="4161892" y="2331720"/>
            <a:ext cx="1005840" cy="1005840"/>
          </a:xfrm>
          <a:prstGeom prst="rect">
            <a:avLst/>
          </a:prstGeom>
        </p:spPr>
      </p:pic>
      <p:sp>
        <p:nvSpPr>
          <p:cNvPr id="14" name="Text 10"/>
          <p:cNvSpPr/>
          <p:nvPr/>
        </p:nvSpPr>
        <p:spPr>
          <a:xfrm>
            <a:off x="3498952" y="3520440"/>
            <a:ext cx="2331720" cy="502920"/>
          </a:xfrm>
          <a:prstGeom prst="rect">
            <a:avLst/>
          </a:prstGeom>
          <a:noFill/>
          <a:ln/>
        </p:spPr>
        <p:txBody>
          <a:bodyPr wrap="square" lIns="0" tIns="0" rIns="0" bIns="0" rtlCol="0" anchor="t"/>
          <a:lstStyle/>
          <a:p>
            <a:pPr algn="ctr" indent="0" marL="0">
              <a:buNone/>
            </a:pPr>
            <a:r>
              <a:rPr lang="en-US" sz="1500" b="1" dirty="0">
                <a:solidFill>
                  <a:srgbClr val="0B2436"/>
                </a:solidFill>
                <a:latin typeface="Calibri" pitchFamily="34" charset="0"/>
                <a:ea typeface="Calibri" pitchFamily="34" charset="-122"/>
                <a:cs typeface="Calibri" pitchFamily="34" charset="-120"/>
              </a:rPr>
              <a:t>Rana Harsh</a:t>
            </a:r>
            <a:endParaRPr lang="en-US" sz="1500" dirty="0"/>
          </a:p>
        </p:txBody>
      </p:sp>
      <p:sp>
        <p:nvSpPr>
          <p:cNvPr id="15" name="Text 11"/>
          <p:cNvSpPr/>
          <p:nvPr/>
        </p:nvSpPr>
        <p:spPr>
          <a:xfrm>
            <a:off x="3498952" y="3950208"/>
            <a:ext cx="2331720" cy="274320"/>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Team Member</a:t>
            </a:r>
            <a:endParaRPr lang="en-US" sz="1100" dirty="0"/>
          </a:p>
        </p:txBody>
      </p:sp>
      <p:sp>
        <p:nvSpPr>
          <p:cNvPr id="16" name="Text 12"/>
          <p:cNvSpPr/>
          <p:nvPr/>
        </p:nvSpPr>
        <p:spPr>
          <a:xfrm>
            <a:off x="3562960" y="4297680"/>
            <a:ext cx="2203704" cy="1005840"/>
          </a:xfrm>
          <a:prstGeom prst="rect">
            <a:avLst/>
          </a:prstGeom>
          <a:noFill/>
          <a:ln/>
        </p:spPr>
        <p:txBody>
          <a:bodyPr wrap="square" lIns="0" tIns="0" rIns="0" bIns="0" rtlCol="0" anchor="t"/>
          <a:lstStyle/>
          <a:p>
            <a:pPr algn="ctr" indent="0" marL="0">
              <a:buNone/>
            </a:pPr>
            <a:r>
              <a:rPr lang="en-US" sz="1100" dirty="0">
                <a:solidFill>
                  <a:srgbClr val="5B7184"/>
                </a:solidFill>
                <a:latin typeface="Calibri" pitchFamily="34" charset="0"/>
                <a:ea typeface="Calibri" pitchFamily="34" charset="-122"/>
                <a:cs typeface="Calibri" pitchFamily="34" charset="-120"/>
              </a:rPr>
              <a:t>Discrete Event Simulation (SimPy) &amp; Monte Carlo Engine</a:t>
            </a:r>
            <a:endParaRPr lang="en-US" sz="1100" dirty="0"/>
          </a:p>
        </p:txBody>
      </p:sp>
      <p:sp>
        <p:nvSpPr>
          <p:cNvPr id="17" name="Shape 13"/>
          <p:cNvSpPr/>
          <p:nvPr/>
        </p:nvSpPr>
        <p:spPr>
          <a:xfrm>
            <a:off x="6223864" y="1737360"/>
            <a:ext cx="2606040" cy="3657600"/>
          </a:xfrm>
          <a:prstGeom prst="roundRect">
            <a:avLst>
              <a:gd name="adj" fmla="val 3509"/>
            </a:avLst>
          </a:prstGeom>
          <a:solidFill>
            <a:srgbClr val="F4F8FA"/>
          </a:solidFill>
          <a:ln w="12700">
            <a:solidFill>
              <a:srgbClr val="DCE6EA"/>
            </a:solidFill>
            <a:prstDash val="solid"/>
          </a:ln>
        </p:spPr>
      </p:sp>
      <p:pic>
        <p:nvPicPr>
          <p:cNvPr id="18" name="Image 2" descr="/home/claude/pptx_project/icons/user.png">    </p:cNvPr>
          <p:cNvPicPr>
            <a:picLocks noChangeAspect="1"/>
          </p:cNvPicPr>
          <p:nvPr/>
        </p:nvPicPr>
        <p:blipFill>
          <a:blip r:embed="rId3"/>
          <a:stretch>
            <a:fillRect/>
          </a:stretch>
        </p:blipFill>
        <p:spPr>
          <a:xfrm>
            <a:off x="7023964" y="2331720"/>
            <a:ext cx="1005840" cy="1005840"/>
          </a:xfrm>
          <a:prstGeom prst="rect">
            <a:avLst/>
          </a:prstGeom>
        </p:spPr>
      </p:pic>
      <p:sp>
        <p:nvSpPr>
          <p:cNvPr id="19" name="Text 14"/>
          <p:cNvSpPr/>
          <p:nvPr/>
        </p:nvSpPr>
        <p:spPr>
          <a:xfrm>
            <a:off x="6361024" y="3520440"/>
            <a:ext cx="2331720" cy="502920"/>
          </a:xfrm>
          <a:prstGeom prst="rect">
            <a:avLst/>
          </a:prstGeom>
          <a:noFill/>
          <a:ln/>
        </p:spPr>
        <p:txBody>
          <a:bodyPr wrap="square" lIns="0" tIns="0" rIns="0" bIns="0" rtlCol="0" anchor="t"/>
          <a:lstStyle/>
          <a:p>
            <a:pPr algn="ctr" indent="0" marL="0">
              <a:buNone/>
            </a:pPr>
            <a:r>
              <a:rPr lang="en-US" sz="1500" b="1" dirty="0">
                <a:solidFill>
                  <a:srgbClr val="0B2436"/>
                </a:solidFill>
                <a:latin typeface="Calibri" pitchFamily="34" charset="0"/>
                <a:ea typeface="Calibri" pitchFamily="34" charset="-122"/>
                <a:cs typeface="Calibri" pitchFamily="34" charset="-120"/>
              </a:rPr>
              <a:t>Savaliya Harshit</a:t>
            </a:r>
            <a:endParaRPr lang="en-US" sz="1500" dirty="0"/>
          </a:p>
        </p:txBody>
      </p:sp>
      <p:sp>
        <p:nvSpPr>
          <p:cNvPr id="20" name="Text 15"/>
          <p:cNvSpPr/>
          <p:nvPr/>
        </p:nvSpPr>
        <p:spPr>
          <a:xfrm>
            <a:off x="6361024" y="3950208"/>
            <a:ext cx="2331720" cy="274320"/>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Team Member</a:t>
            </a:r>
            <a:endParaRPr lang="en-US" sz="1100" dirty="0"/>
          </a:p>
        </p:txBody>
      </p:sp>
      <p:sp>
        <p:nvSpPr>
          <p:cNvPr id="21" name="Text 16"/>
          <p:cNvSpPr/>
          <p:nvPr/>
        </p:nvSpPr>
        <p:spPr>
          <a:xfrm>
            <a:off x="6425032" y="4297680"/>
            <a:ext cx="2203704" cy="1005840"/>
          </a:xfrm>
          <a:prstGeom prst="rect">
            <a:avLst/>
          </a:prstGeom>
          <a:noFill/>
          <a:ln/>
        </p:spPr>
        <p:txBody>
          <a:bodyPr wrap="square" lIns="0" tIns="0" rIns="0" bIns="0" rtlCol="0" anchor="t"/>
          <a:lstStyle/>
          <a:p>
            <a:pPr algn="ctr" indent="0" marL="0">
              <a:buNone/>
            </a:pPr>
            <a:r>
              <a:rPr lang="en-US" sz="1100" dirty="0">
                <a:solidFill>
                  <a:srgbClr val="5B7184"/>
                </a:solidFill>
                <a:latin typeface="Calibri" pitchFamily="34" charset="0"/>
                <a:ea typeface="Calibri" pitchFamily="34" charset="-122"/>
                <a:cs typeface="Calibri" pitchFamily="34" charset="-120"/>
              </a:rPr>
              <a:t>Frontend UI/UX, MapLibre GL Vessel Map &amp; Recharts</a:t>
            </a:r>
            <a:endParaRPr lang="en-US" sz="1100" dirty="0"/>
          </a:p>
        </p:txBody>
      </p:sp>
      <p:sp>
        <p:nvSpPr>
          <p:cNvPr id="22" name="Shape 17"/>
          <p:cNvSpPr/>
          <p:nvPr/>
        </p:nvSpPr>
        <p:spPr>
          <a:xfrm>
            <a:off x="9085936" y="1737360"/>
            <a:ext cx="2606040" cy="3657600"/>
          </a:xfrm>
          <a:prstGeom prst="roundRect">
            <a:avLst>
              <a:gd name="adj" fmla="val 3509"/>
            </a:avLst>
          </a:prstGeom>
          <a:solidFill>
            <a:srgbClr val="F4F8FA"/>
          </a:solidFill>
          <a:ln w="12700">
            <a:solidFill>
              <a:srgbClr val="DCE6EA"/>
            </a:solidFill>
            <a:prstDash val="solid"/>
          </a:ln>
        </p:spPr>
      </p:sp>
      <p:pic>
        <p:nvPicPr>
          <p:cNvPr id="23" name="Image 3" descr="/home/claude/pptx_project/icons/user.png">    </p:cNvPr>
          <p:cNvPicPr>
            <a:picLocks noChangeAspect="1"/>
          </p:cNvPicPr>
          <p:nvPr/>
        </p:nvPicPr>
        <p:blipFill>
          <a:blip r:embed="rId4"/>
          <a:stretch>
            <a:fillRect/>
          </a:stretch>
        </p:blipFill>
        <p:spPr>
          <a:xfrm>
            <a:off x="9886036" y="2331720"/>
            <a:ext cx="1005840" cy="1005840"/>
          </a:xfrm>
          <a:prstGeom prst="rect">
            <a:avLst/>
          </a:prstGeom>
        </p:spPr>
      </p:pic>
      <p:sp>
        <p:nvSpPr>
          <p:cNvPr id="24" name="Text 18"/>
          <p:cNvSpPr/>
          <p:nvPr/>
        </p:nvSpPr>
        <p:spPr>
          <a:xfrm>
            <a:off x="9223096" y="3520440"/>
            <a:ext cx="2331720" cy="502920"/>
          </a:xfrm>
          <a:prstGeom prst="rect">
            <a:avLst/>
          </a:prstGeom>
          <a:noFill/>
          <a:ln/>
        </p:spPr>
        <p:txBody>
          <a:bodyPr wrap="square" lIns="0" tIns="0" rIns="0" bIns="0" rtlCol="0" anchor="t"/>
          <a:lstStyle/>
          <a:p>
            <a:pPr algn="ctr" indent="0" marL="0">
              <a:buNone/>
            </a:pPr>
            <a:r>
              <a:rPr lang="en-US" sz="1500" b="1" dirty="0">
                <a:solidFill>
                  <a:srgbClr val="0B2436"/>
                </a:solidFill>
                <a:latin typeface="Calibri" pitchFamily="34" charset="0"/>
                <a:ea typeface="Calibri" pitchFamily="34" charset="-122"/>
                <a:cs typeface="Calibri" pitchFamily="34" charset="-120"/>
              </a:rPr>
              <a:t>Patel Manav</a:t>
            </a:r>
            <a:endParaRPr lang="en-US" sz="1500" dirty="0"/>
          </a:p>
        </p:txBody>
      </p:sp>
      <p:sp>
        <p:nvSpPr>
          <p:cNvPr id="25" name="Text 19"/>
          <p:cNvSpPr/>
          <p:nvPr/>
        </p:nvSpPr>
        <p:spPr>
          <a:xfrm>
            <a:off x="9223096" y="3950208"/>
            <a:ext cx="2331720" cy="274320"/>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Team Member</a:t>
            </a:r>
            <a:endParaRPr lang="en-US" sz="1100" dirty="0"/>
          </a:p>
        </p:txBody>
      </p:sp>
      <p:sp>
        <p:nvSpPr>
          <p:cNvPr id="26" name="Text 20"/>
          <p:cNvSpPr/>
          <p:nvPr/>
        </p:nvSpPr>
        <p:spPr>
          <a:xfrm>
            <a:off x="9287104" y="4297680"/>
            <a:ext cx="2203704" cy="1005840"/>
          </a:xfrm>
          <a:prstGeom prst="rect">
            <a:avLst/>
          </a:prstGeom>
          <a:noFill/>
          <a:ln/>
        </p:spPr>
        <p:txBody>
          <a:bodyPr wrap="square" lIns="0" tIns="0" rIns="0" bIns="0" rtlCol="0" anchor="t"/>
          <a:lstStyle/>
          <a:p>
            <a:pPr algn="ctr" indent="0" marL="0">
              <a:buNone/>
            </a:pPr>
            <a:r>
              <a:rPr lang="en-US" sz="1100" dirty="0">
                <a:solidFill>
                  <a:srgbClr val="5B7184"/>
                </a:solidFill>
                <a:latin typeface="Calibri" pitchFamily="34" charset="0"/>
                <a:ea typeface="Calibri" pitchFamily="34" charset="-122"/>
                <a:cs typeface="Calibri" pitchFamily="34" charset="-120"/>
              </a:rPr>
              <a:t>WebSockets Streaming, Shift Planner &amp; PDF Report Generator</a:t>
            </a:r>
            <a:endParaRPr lang="en-US" sz="1100" dirty="0"/>
          </a:p>
        </p:txBody>
      </p:sp>
      <p:sp>
        <p:nvSpPr>
          <p:cNvPr id="27" name="Shape 21"/>
          <p:cNvSpPr/>
          <p:nvPr/>
        </p:nvSpPr>
        <p:spPr>
          <a:xfrm>
            <a:off x="457200" y="5623560"/>
            <a:ext cx="11247120" cy="685800"/>
          </a:xfrm>
          <a:prstGeom prst="roundRect">
            <a:avLst>
              <a:gd name="adj" fmla="val 13333"/>
            </a:avLst>
          </a:prstGeom>
          <a:solidFill>
            <a:srgbClr val="065A82"/>
          </a:solidFill>
          <a:ln/>
        </p:spPr>
      </p:sp>
      <p:sp>
        <p:nvSpPr>
          <p:cNvPr id="28" name="Text 22"/>
          <p:cNvSpPr/>
          <p:nvPr/>
        </p:nvSpPr>
        <p:spPr>
          <a:xfrm>
            <a:off x="777240" y="5623560"/>
            <a:ext cx="1645920" cy="68580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Live Demo:</a:t>
            </a:r>
            <a:endParaRPr lang="en-US" sz="1300" dirty="0"/>
          </a:p>
        </p:txBody>
      </p:sp>
      <p:sp>
        <p:nvSpPr>
          <p:cNvPr id="29" name="Text 23">
            <a:hlinkClick r:id="rId5" tooltip=""/>
          </p:cNvPr>
          <p:cNvSpPr/>
          <p:nvPr/>
        </p:nvSpPr>
        <p:spPr>
          <a:xfrm>
            <a:off x="2377440" y="5623560"/>
            <a:ext cx="8686800" cy="68580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https://port-congestion-optimiser-theta.vercel.app/</a:t>
            </a:r>
            <a:endParaRPr lang="en-US" sz="1400" dirty="0"/>
          </a:p>
        </p:txBody>
      </p:sp>
      <p:sp>
        <p:nvSpPr>
          <p:cNvPr id="30" name="Text 2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1050" dirty="0">
                <a:solidFill>
                  <a:srgbClr val="5B7184"/>
                </a:solidFill>
                <a:latin typeface="Calibri" pitchFamily="34" charset="0"/>
                <a:ea typeface="Calibri" pitchFamily="34" charset="-122"/>
                <a:cs typeface="Calibri" pitchFamily="34" charset="-120"/>
              </a:rPr>
              <a:t>Team &amp; Roles</a:t>
            </a:r>
            <a:endParaRPr lang="en-US" sz="1050" dirty="0"/>
          </a:p>
        </p:txBody>
      </p:sp>
      <p:sp>
        <p:nvSpPr>
          <p:cNvPr id="31" name="Text 25"/>
          <p:cNvSpPr/>
          <p:nvPr/>
        </p:nvSpPr>
        <p:spPr>
          <a:xfrm>
            <a:off x="8076895" y="6473952"/>
            <a:ext cx="3657600" cy="274320"/>
          </a:xfrm>
          <a:prstGeom prst="rect">
            <a:avLst/>
          </a:prstGeom>
          <a:noFill/>
          <a:ln/>
        </p:spPr>
        <p:txBody>
          <a:bodyPr wrap="square" lIns="0" tIns="0" rIns="0" bIns="0" rtlCol="0" anchor="ctr"/>
          <a:lstStyle/>
          <a:p>
            <a:pPr algn="r" indent="0" marL="0">
              <a:buNone/>
            </a:pPr>
            <a:r>
              <a:rPr lang="en-US" sz="1050" dirty="0">
                <a:solidFill>
                  <a:srgbClr val="5B7184"/>
                </a:solidFill>
                <a:latin typeface="Calibri" pitchFamily="34" charset="0"/>
                <a:ea typeface="Calibri" pitchFamily="34" charset="-122"/>
                <a:cs typeface="Calibri" pitchFamily="34" charset="-120"/>
              </a:rPr>
              <a:t>Infinite Loop  ·  08 / 08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2026-09-14T06:59:31Z</dcterms:created>
  <dcterms:modified xsi:type="dcterms:W3CDTF">2026-09-14T06:59:31Z</dcterms:modified>
</cp:coreProperties>
</file>